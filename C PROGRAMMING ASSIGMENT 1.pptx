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4" d="100"/>
          <a:sy n="54" d="100"/>
        </p:scale>
        <p:origin x="27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BC1B10-6E1D-4A14-9A0B-57CAFAB68224}"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268027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BC1B10-6E1D-4A14-9A0B-57CAFAB68224}"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665039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BC1B10-6E1D-4A14-9A0B-57CAFAB68224}"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1882404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BC1B10-6E1D-4A14-9A0B-57CAFAB68224}" type="datetimeFigureOut">
              <a:rPr lang="en-IN" smtClean="0"/>
              <a:t>25-10-2026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1558081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BC1B10-6E1D-4A14-9A0B-57CAFAB68224}" type="datetimeFigureOut">
              <a:rPr lang="en-IN" smtClean="0"/>
              <a:t>25-10-2026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2355603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BC1B10-6E1D-4A14-9A0B-57CAFAB68224}" type="datetimeFigureOut">
              <a:rPr lang="en-IN" smtClean="0"/>
              <a:t>25-10-2026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380571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BC1B10-6E1D-4A14-9A0B-57CAFAB68224}" type="datetimeFigureOut">
              <a:rPr lang="en-IN" smtClean="0"/>
              <a:t>25-10-2026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3918046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BC1B10-6E1D-4A14-9A0B-57CAFAB68224}" type="datetimeFigureOut">
              <a:rPr lang="en-IN" smtClean="0"/>
              <a:t>25-10-2026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1472707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ABC1B10-6E1D-4A14-9A0B-57CAFAB68224}" type="datetimeFigureOut">
              <a:rPr lang="en-IN" smtClean="0"/>
              <a:t>25-10-2026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548397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BC1B10-6E1D-4A14-9A0B-57CAFAB68224}"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1518650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BC1B10-6E1D-4A14-9A0B-57CAFAB68224}" type="datetimeFigureOut">
              <a:rPr lang="en-IN" smtClean="0"/>
              <a:t>25-10-2026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5615771-0E01-43DA-A2FC-BEB51FAE4EC9}" type="slidenum">
              <a:rPr lang="en-IN" smtClean="0"/>
              <a:t>‹#›</a:t>
            </a:fld>
            <a:endParaRPr lang="en-IN"/>
          </a:p>
        </p:txBody>
      </p:sp>
    </p:spTree>
    <p:extLst>
      <p:ext uri="{BB962C8B-B14F-4D97-AF65-F5344CB8AC3E}">
        <p14:creationId xmlns:p14="http://schemas.microsoft.com/office/powerpoint/2010/main" val="218439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0ABC1B10-6E1D-4A14-9A0B-57CAFAB68224}" type="datetimeFigureOut">
              <a:rPr lang="en-IN" smtClean="0"/>
              <a:t>25-10-2026</a:t>
            </a:fld>
            <a:endParaRPr lang="en-IN"/>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15615771-0E01-43DA-A2FC-BEB51FAE4EC9}" type="slidenum">
              <a:rPr lang="en-IN" smtClean="0"/>
              <a:t>‹#›</a:t>
            </a:fld>
            <a:endParaRPr lang="en-IN"/>
          </a:p>
        </p:txBody>
      </p:sp>
    </p:spTree>
    <p:extLst>
      <p:ext uri="{BB962C8B-B14F-4D97-AF65-F5344CB8AC3E}">
        <p14:creationId xmlns:p14="http://schemas.microsoft.com/office/powerpoint/2010/main" val="2535943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E0CDD-B8AC-1B08-87FD-B1EB1F533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AEB29-4B0A-5013-6716-ED3F34A20B3D}"/>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952A9657-0D26-5245-3B78-38D5424022FD}"/>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7F93E697-A6E7-4FDD-1FA2-99ECECA7A684}"/>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44979277-8BF8-8EC3-67C8-D4342090FC23}"/>
              </a:ext>
            </a:extLst>
          </p:cNvPr>
          <p:cNvSpPr txBox="1"/>
          <p:nvPr/>
        </p:nvSpPr>
        <p:spPr>
          <a:xfrm>
            <a:off x="371475" y="867494"/>
            <a:ext cx="5972175" cy="4629472"/>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1 – Understand the Problem and Identify the Data</a:t>
            </a:r>
            <a:endParaRPr lang="en-IN"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Problem analysis: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Grama Jyothi Rural Electricity Co-operative bills households by comparing the previous and current meter readings. Consumption is the number of units used during the billing period. The bill contains a fixed charge and an energy charge calculated using slabs: the first 100 units are free, units 101–200 cost ₹2.25 per unit, and units above 200 cost ₹4.50 per unit. The fixed charge is ₹50 in the supplied code example.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program must avoid negative bills, calculate money exactly to the paisa, handle a 16-bit meter rollover, and keep tariff values in one place so a tariff revision cannot be applied inconsistently</a:t>
            </a:r>
            <a:endParaRPr lang="en-IN"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FD874B49-4058-D81E-AAEA-239E1C6BB098}"/>
              </a:ext>
            </a:extLst>
          </p:cNvPr>
          <p:cNvGraphicFramePr>
            <a:graphicFrameLocks noGrp="1"/>
          </p:cNvGraphicFramePr>
          <p:nvPr>
            <p:extLst>
              <p:ext uri="{D42A27DB-BD31-4B8C-83A1-F6EECF244321}">
                <p14:modId xmlns:p14="http://schemas.microsoft.com/office/powerpoint/2010/main" val="2503868975"/>
              </p:ext>
            </p:extLst>
          </p:nvPr>
        </p:nvGraphicFramePr>
        <p:xfrm>
          <a:off x="428625" y="5737916"/>
          <a:ext cx="5915025" cy="3625344"/>
        </p:xfrm>
        <a:graphic>
          <a:graphicData uri="http://schemas.openxmlformats.org/drawingml/2006/table">
            <a:tbl>
              <a:tblPr firstRow="1" firstCol="1" bandRow="1">
                <a:tableStyleId>{5940675A-B579-460E-94D1-54222C63F5DA}</a:tableStyleId>
              </a:tblPr>
              <a:tblGrid>
                <a:gridCol w="1971675">
                  <a:extLst>
                    <a:ext uri="{9D8B030D-6E8A-4147-A177-3AD203B41FA5}">
                      <a16:colId xmlns:a16="http://schemas.microsoft.com/office/drawing/2014/main" val="256471720"/>
                    </a:ext>
                  </a:extLst>
                </a:gridCol>
                <a:gridCol w="1971675">
                  <a:extLst>
                    <a:ext uri="{9D8B030D-6E8A-4147-A177-3AD203B41FA5}">
                      <a16:colId xmlns:a16="http://schemas.microsoft.com/office/drawing/2014/main" val="3155947632"/>
                    </a:ext>
                  </a:extLst>
                </a:gridCol>
                <a:gridCol w="1971675">
                  <a:extLst>
                    <a:ext uri="{9D8B030D-6E8A-4147-A177-3AD203B41FA5}">
                      <a16:colId xmlns:a16="http://schemas.microsoft.com/office/drawing/2014/main" val="2905693611"/>
                    </a:ext>
                  </a:extLst>
                </a:gridCol>
              </a:tblGrid>
              <a:tr h="136029">
                <a:tc>
                  <a:txBody>
                    <a:bodyPr/>
                    <a:lstStyle/>
                    <a:p>
                      <a:pPr marL="0" marR="0">
                        <a:lnSpc>
                          <a:spcPct val="115000"/>
                        </a:lnSpc>
                        <a:spcAft>
                          <a:spcPts val="500"/>
                        </a:spcAft>
                        <a:buNone/>
                      </a:pPr>
                      <a:r>
                        <a:rPr lang="en-US" sz="1400" dirty="0">
                          <a:effectLst/>
                        </a:rPr>
                        <a:t>Data item</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Purpose and justification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Suggested representation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374149984"/>
                  </a:ext>
                </a:extLst>
              </a:tr>
              <a:tr h="283905">
                <a:tc>
                  <a:txBody>
                    <a:bodyPr/>
                    <a:lstStyle/>
                    <a:p>
                      <a:pPr marL="0" marR="0">
                        <a:lnSpc>
                          <a:spcPct val="115000"/>
                        </a:lnSpc>
                        <a:spcAft>
                          <a:spcPts val="500"/>
                        </a:spcAft>
                        <a:buNone/>
                      </a:pPr>
                      <a:r>
                        <a:rPr lang="en-US" sz="1400">
                          <a:effectLst/>
                        </a:rPr>
                        <a:t>Household number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Identifies the customer and the bill; must not be confused with consumption.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int or a suitably sized integer; string if it contains letters/leading zeroes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992665659"/>
                  </a:ext>
                </a:extLst>
              </a:tr>
              <a:tr h="283905">
                <a:tc>
                  <a:txBody>
                    <a:bodyPr/>
                    <a:lstStyle/>
                    <a:p>
                      <a:pPr marL="0" marR="0">
                        <a:lnSpc>
                          <a:spcPct val="115000"/>
                        </a:lnSpc>
                        <a:spcAft>
                          <a:spcPts val="500"/>
                        </a:spcAft>
                        <a:buNone/>
                      </a:pPr>
                      <a:r>
                        <a:rPr lang="en-US" sz="1400">
                          <a:effectLst/>
                        </a:rPr>
                        <a:t>Category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Stores household/customer tariff category if different tariffs are later introduced.</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err="1">
                          <a:effectLst/>
                        </a:rPr>
                        <a:t>enum</a:t>
                      </a:r>
                      <a:r>
                        <a:rPr lang="en-US" sz="1400" dirty="0">
                          <a:effectLst/>
                        </a:rPr>
                        <a:t> or small integer</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511071584"/>
                  </a:ext>
                </a:extLst>
              </a:tr>
              <a:tr h="431781">
                <a:tc>
                  <a:txBody>
                    <a:bodyPr/>
                    <a:lstStyle/>
                    <a:p>
                      <a:pPr marL="0" marR="0">
                        <a:lnSpc>
                          <a:spcPct val="115000"/>
                        </a:lnSpc>
                        <a:spcAft>
                          <a:spcPts val="500"/>
                        </a:spcAft>
                        <a:buNone/>
                      </a:pPr>
                      <a:r>
                        <a:rPr lang="en-US" sz="1400">
                          <a:effectLst/>
                        </a:rPr>
                        <a:t>Previous reading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Meter register value at the start of the period; in the stated example it is 0–65535.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unsigned short / uint16_t where supported</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309312887"/>
                  </a:ext>
                </a:extLst>
              </a:tr>
            </a:tbl>
          </a:graphicData>
        </a:graphic>
      </p:graphicFrame>
    </p:spTree>
    <p:extLst>
      <p:ext uri="{BB962C8B-B14F-4D97-AF65-F5344CB8AC3E}">
        <p14:creationId xmlns:p14="http://schemas.microsoft.com/office/powerpoint/2010/main" val="555262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5E7B8-BAD3-D95A-F051-8C231DBD842E}"/>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A92E8C0-188E-96CF-7CA5-9031853424DB}"/>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8093F4CC-48B8-2B7F-1224-ABF2ADFECEA1}"/>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aphicFrame>
        <p:nvGraphicFramePr>
          <p:cNvPr id="7" name="Table 6">
            <a:extLst>
              <a:ext uri="{FF2B5EF4-FFF2-40B4-BE49-F238E27FC236}">
                <a16:creationId xmlns:a16="http://schemas.microsoft.com/office/drawing/2014/main" id="{61DE96A1-278E-3989-EFB4-1526FA330769}"/>
              </a:ext>
            </a:extLst>
          </p:cNvPr>
          <p:cNvGraphicFramePr>
            <a:graphicFrameLocks noGrp="1"/>
          </p:cNvGraphicFramePr>
          <p:nvPr>
            <p:extLst>
              <p:ext uri="{D42A27DB-BD31-4B8C-83A1-F6EECF244321}">
                <p14:modId xmlns:p14="http://schemas.microsoft.com/office/powerpoint/2010/main" val="3525409111"/>
              </p:ext>
            </p:extLst>
          </p:nvPr>
        </p:nvGraphicFramePr>
        <p:xfrm>
          <a:off x="514350" y="817473"/>
          <a:ext cx="5915025" cy="5056191"/>
        </p:xfrm>
        <a:graphic>
          <a:graphicData uri="http://schemas.openxmlformats.org/drawingml/2006/table">
            <a:tbl>
              <a:tblPr firstRow="1" firstCol="1" bandRow="1">
                <a:tableStyleId>{5940675A-B579-460E-94D1-54222C63F5DA}</a:tableStyleId>
              </a:tblPr>
              <a:tblGrid>
                <a:gridCol w="1971675">
                  <a:extLst>
                    <a:ext uri="{9D8B030D-6E8A-4147-A177-3AD203B41FA5}">
                      <a16:colId xmlns:a16="http://schemas.microsoft.com/office/drawing/2014/main" val="1853625964"/>
                    </a:ext>
                  </a:extLst>
                </a:gridCol>
                <a:gridCol w="1971675">
                  <a:extLst>
                    <a:ext uri="{9D8B030D-6E8A-4147-A177-3AD203B41FA5}">
                      <a16:colId xmlns:a16="http://schemas.microsoft.com/office/drawing/2014/main" val="3748536732"/>
                    </a:ext>
                  </a:extLst>
                </a:gridCol>
                <a:gridCol w="1971675">
                  <a:extLst>
                    <a:ext uri="{9D8B030D-6E8A-4147-A177-3AD203B41FA5}">
                      <a16:colId xmlns:a16="http://schemas.microsoft.com/office/drawing/2014/main" val="2733432877"/>
                    </a:ext>
                  </a:extLst>
                </a:gridCol>
              </a:tblGrid>
              <a:tr h="283905">
                <a:tc>
                  <a:txBody>
                    <a:bodyPr/>
                    <a:lstStyle/>
                    <a:p>
                      <a:pPr marL="0" marR="0">
                        <a:lnSpc>
                          <a:spcPct val="115000"/>
                        </a:lnSpc>
                        <a:spcAft>
                          <a:spcPts val="500"/>
                        </a:spcAft>
                        <a:buNone/>
                      </a:pPr>
                      <a:r>
                        <a:rPr lang="en-US" sz="1400" dirty="0">
                          <a:effectLst/>
                        </a:rPr>
                        <a:t>Current reading</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Meter register value at the end of the period; same register range.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unsigned short / uint16_t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789067068"/>
                  </a:ext>
                </a:extLst>
              </a:tr>
              <a:tr h="283905">
                <a:tc>
                  <a:txBody>
                    <a:bodyPr/>
                    <a:lstStyle/>
                    <a:p>
                      <a:pPr marL="0" marR="0">
                        <a:lnSpc>
                          <a:spcPct val="115000"/>
                        </a:lnSpc>
                        <a:spcAft>
                          <a:spcPts val="500"/>
                        </a:spcAft>
                        <a:buNone/>
                      </a:pPr>
                      <a:r>
                        <a:rPr lang="en-US" sz="1400" dirty="0">
                          <a:effectLst/>
                        </a:rPr>
                        <a:t>Units consumed</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Difference between readings, including rollover logic.</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unsigned int or uint32_t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816986045"/>
                  </a:ext>
                </a:extLst>
              </a:tr>
              <a:tr h="136029">
                <a:tc>
                  <a:txBody>
                    <a:bodyPr/>
                    <a:lstStyle/>
                    <a:p>
                      <a:pPr marL="0" marR="0">
                        <a:lnSpc>
                          <a:spcPct val="115000"/>
                        </a:lnSpc>
                        <a:spcAft>
                          <a:spcPts val="500"/>
                        </a:spcAft>
                        <a:buNone/>
                      </a:pPr>
                      <a:r>
                        <a:rPr lang="en-US" sz="1400">
                          <a:effectLst/>
                        </a:rPr>
                        <a:t>Energy charge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Sum of the applicable slab charges.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long </a:t>
                      </a:r>
                      <a:r>
                        <a:rPr lang="en-US" sz="1400" dirty="0" err="1">
                          <a:effectLst/>
                        </a:rPr>
                        <a:t>long</a:t>
                      </a:r>
                      <a:r>
                        <a:rPr lang="en-US" sz="1400" dirty="0">
                          <a:effectLst/>
                        </a:rPr>
                        <a:t> integer paise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582258854"/>
                  </a:ext>
                </a:extLst>
              </a:tr>
              <a:tr h="283905">
                <a:tc>
                  <a:txBody>
                    <a:bodyPr/>
                    <a:lstStyle/>
                    <a:p>
                      <a:pPr marL="0" marR="0">
                        <a:lnSpc>
                          <a:spcPct val="115000"/>
                        </a:lnSpc>
                        <a:spcAft>
                          <a:spcPts val="500"/>
                        </a:spcAft>
                        <a:buNone/>
                      </a:pPr>
                      <a:r>
                        <a:rPr lang="en-US" sz="1400">
                          <a:effectLst/>
                        </a:rPr>
                        <a:t>Fixed charge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Fixed amount added to each bill; constant under a given tariff.</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long or long </a:t>
                      </a:r>
                      <a:r>
                        <a:rPr lang="en-US" sz="1400" dirty="0" err="1">
                          <a:effectLst/>
                        </a:rPr>
                        <a:t>long</a:t>
                      </a:r>
                      <a:r>
                        <a:rPr lang="en-US" sz="1400" dirty="0">
                          <a:effectLst/>
                        </a:rPr>
                        <a:t> integer paise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833050792"/>
                  </a:ext>
                </a:extLst>
              </a:tr>
              <a:tr h="283905">
                <a:tc>
                  <a:txBody>
                    <a:bodyPr/>
                    <a:lstStyle/>
                    <a:p>
                      <a:pPr marL="0" marR="0">
                        <a:lnSpc>
                          <a:spcPct val="115000"/>
                        </a:lnSpc>
                        <a:spcAft>
                          <a:spcPts val="500"/>
                        </a:spcAft>
                        <a:buNone/>
                      </a:pPr>
                      <a:r>
                        <a:rPr lang="en-US" sz="1400">
                          <a:effectLst/>
                        </a:rPr>
                        <a:t>Total bill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Fixed charge plus energy charge; must be non-negative and exact to the paisa.</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long </a:t>
                      </a:r>
                      <a:r>
                        <a:rPr lang="en-US" sz="1400" dirty="0" err="1">
                          <a:effectLst/>
                        </a:rPr>
                        <a:t>long</a:t>
                      </a:r>
                      <a:r>
                        <a:rPr lang="en-US" sz="1400" dirty="0">
                          <a:effectLst/>
                        </a:rPr>
                        <a:t> integer paise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523988809"/>
                  </a:ext>
                </a:extLst>
              </a:tr>
              <a:tr h="283905">
                <a:tc>
                  <a:txBody>
                    <a:bodyPr/>
                    <a:lstStyle/>
                    <a:p>
                      <a:pPr marL="0" marR="0">
                        <a:lnSpc>
                          <a:spcPct val="115000"/>
                        </a:lnSpc>
                        <a:spcAft>
                          <a:spcPts val="500"/>
                        </a:spcAft>
                        <a:buNone/>
                      </a:pPr>
                      <a:r>
                        <a:rPr lang="en-US" sz="1400" dirty="0">
                          <a:effectLst/>
                        </a:rPr>
                        <a:t>Tariff rates and slab limits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Shared rules that should not be repeated throughout the program.</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named macros or const values; configuration file in revised design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925620416"/>
                  </a:ext>
                </a:extLst>
              </a:tr>
              <a:tr h="283905">
                <a:tc>
                  <a:txBody>
                    <a:bodyPr/>
                    <a:lstStyle/>
                    <a:p>
                      <a:pPr marL="0" marR="0">
                        <a:lnSpc>
                          <a:spcPct val="115000"/>
                        </a:lnSpc>
                        <a:spcAft>
                          <a:spcPts val="500"/>
                        </a:spcAft>
                        <a:buNone/>
                      </a:pPr>
                      <a:r>
                        <a:rPr lang="en-US" sz="1400">
                          <a:effectLst/>
                        </a:rPr>
                        <a:t>Number of bills / total collection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May grow from 4,000 to 800,000 households.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err="1">
                          <a:effectLst/>
                        </a:rPr>
                        <a:t>size_t</a:t>
                      </a:r>
                      <a:r>
                        <a:rPr lang="en-US" sz="1400" dirty="0">
                          <a:effectLst/>
                        </a:rPr>
                        <a:t> for counts; long </a:t>
                      </a:r>
                      <a:r>
                        <a:rPr lang="en-US" sz="1400" dirty="0" err="1">
                          <a:effectLst/>
                        </a:rPr>
                        <a:t>long</a:t>
                      </a:r>
                      <a:r>
                        <a:rPr lang="en-US" sz="1400" dirty="0">
                          <a:effectLst/>
                        </a:rPr>
                        <a:t> for total paise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4140716743"/>
                  </a:ext>
                </a:extLst>
              </a:tr>
            </a:tbl>
          </a:graphicData>
        </a:graphic>
      </p:graphicFrame>
      <p:sp>
        <p:nvSpPr>
          <p:cNvPr id="9" name="TextBox 8">
            <a:extLst>
              <a:ext uri="{FF2B5EF4-FFF2-40B4-BE49-F238E27FC236}">
                <a16:creationId xmlns:a16="http://schemas.microsoft.com/office/drawing/2014/main" id="{1F97A9D8-BA7B-78B6-F98E-DD8A2F088D9B}"/>
              </a:ext>
            </a:extLst>
          </p:cNvPr>
          <p:cNvSpPr txBox="1"/>
          <p:nvPr/>
        </p:nvSpPr>
        <p:spPr>
          <a:xfrm>
            <a:off x="428625" y="6208584"/>
            <a:ext cx="6000750" cy="3318857"/>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Inputs, outputs, rules and assumptions: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Inputs: household number, category, previous reading and current reading. Input validation must reject missing, malformed or out-of-range values.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Outputs: units consumed, energy charge, fixed charge and final bill in rupees and 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Rules: total bill = fixed charge + energy charge; all charges are non-negative; the first 100 units have zero energy charge; slab boundaries are applied exactly once; a rollover is handled according to the meter register's modulus.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782808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D2CE-8D00-7FAB-7146-BA69E2895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82889-F941-0B61-5A76-AE3FCFE530CF}"/>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D18243B2-05E2-8BC7-CF3A-52F9EC5248B3}"/>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BA6E09D6-4D92-D32F-2997-4D13C0308C54}"/>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306FF0BD-02A8-7753-3768-C6F154ED414B}"/>
              </a:ext>
            </a:extLst>
          </p:cNvPr>
          <p:cNvSpPr txBox="1"/>
          <p:nvPr/>
        </p:nvSpPr>
        <p:spPr>
          <a:xfrm>
            <a:off x="414334" y="747984"/>
            <a:ext cx="5829300" cy="2333972"/>
          </a:xfrm>
          <a:prstGeom prst="rect">
            <a:avLst/>
          </a:prstGeom>
          <a:noFill/>
        </p:spPr>
        <p:txBody>
          <a:bodyPr wrap="square">
            <a:spAutoFit/>
          </a:bodyPr>
          <a:lstStyle/>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Assumption: the basic example uses a 16-bit register with values 0–65535 and one rollover between readings. Multiple rollovers cannot be inferred from only two register readings.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Assumption: the sample tariff and fixed charge are those shown in the assignment code. Real-world tax, subsidies, late fees and category-specific rules are outside the supplied brief.</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3168E7DF-7BC5-28E8-8BA5-99560BA9B102}"/>
              </a:ext>
            </a:extLst>
          </p:cNvPr>
          <p:cNvSpPr txBox="1"/>
          <p:nvPr/>
        </p:nvSpPr>
        <p:spPr>
          <a:xfrm>
            <a:off x="414336" y="3083294"/>
            <a:ext cx="6100763" cy="2159566"/>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Text strings versus integers: time and space: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If a reading is stored as text such as "01530", the program must validate the characters and convert the digit sequence to a numeric value before calculating consumption. Conversion and comparison each take O(d) time for d digits. A fixed-width integer comparison/subtraction is O(1).</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aphicFrame>
        <p:nvGraphicFramePr>
          <p:cNvPr id="9" name="Table 8">
            <a:extLst>
              <a:ext uri="{FF2B5EF4-FFF2-40B4-BE49-F238E27FC236}">
                <a16:creationId xmlns:a16="http://schemas.microsoft.com/office/drawing/2014/main" id="{3E39E76D-16AB-149D-0735-016261DFB730}"/>
              </a:ext>
            </a:extLst>
          </p:cNvPr>
          <p:cNvGraphicFramePr>
            <a:graphicFrameLocks noGrp="1"/>
          </p:cNvGraphicFramePr>
          <p:nvPr>
            <p:extLst>
              <p:ext uri="{D42A27DB-BD31-4B8C-83A1-F6EECF244321}">
                <p14:modId xmlns:p14="http://schemas.microsoft.com/office/powerpoint/2010/main" val="4175672044"/>
              </p:ext>
            </p:extLst>
          </p:nvPr>
        </p:nvGraphicFramePr>
        <p:xfrm>
          <a:off x="514350" y="5380267"/>
          <a:ext cx="5915024" cy="2903031"/>
        </p:xfrm>
        <a:graphic>
          <a:graphicData uri="http://schemas.openxmlformats.org/drawingml/2006/table">
            <a:tbl>
              <a:tblPr firstRow="1" firstCol="1" bandRow="1">
                <a:tableStyleId>{5940675A-B579-460E-94D1-54222C63F5DA}</a:tableStyleId>
              </a:tblPr>
              <a:tblGrid>
                <a:gridCol w="1478756">
                  <a:extLst>
                    <a:ext uri="{9D8B030D-6E8A-4147-A177-3AD203B41FA5}">
                      <a16:colId xmlns:a16="http://schemas.microsoft.com/office/drawing/2014/main" val="1833891576"/>
                    </a:ext>
                  </a:extLst>
                </a:gridCol>
                <a:gridCol w="1478756">
                  <a:extLst>
                    <a:ext uri="{9D8B030D-6E8A-4147-A177-3AD203B41FA5}">
                      <a16:colId xmlns:a16="http://schemas.microsoft.com/office/drawing/2014/main" val="2403660386"/>
                    </a:ext>
                  </a:extLst>
                </a:gridCol>
                <a:gridCol w="1478756">
                  <a:extLst>
                    <a:ext uri="{9D8B030D-6E8A-4147-A177-3AD203B41FA5}">
                      <a16:colId xmlns:a16="http://schemas.microsoft.com/office/drawing/2014/main" val="36436463"/>
                    </a:ext>
                  </a:extLst>
                </a:gridCol>
                <a:gridCol w="1478756">
                  <a:extLst>
                    <a:ext uri="{9D8B030D-6E8A-4147-A177-3AD203B41FA5}">
                      <a16:colId xmlns:a16="http://schemas.microsoft.com/office/drawing/2014/main" val="2638977093"/>
                    </a:ext>
                  </a:extLst>
                </a:gridCol>
              </a:tblGrid>
              <a:tr h="136029">
                <a:tc>
                  <a:txBody>
                    <a:bodyPr/>
                    <a:lstStyle/>
                    <a:p>
                      <a:pPr marL="0" marR="0">
                        <a:lnSpc>
                          <a:spcPct val="115000"/>
                        </a:lnSpc>
                        <a:spcAft>
                          <a:spcPts val="500"/>
                        </a:spcAft>
                        <a:buNone/>
                      </a:pPr>
                      <a:r>
                        <a:rPr lang="en-US" sz="1400">
                          <a:effectLst/>
                        </a:rPr>
                        <a:t>Representation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Time per reading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Space per reading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Comments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779705368"/>
                  </a:ext>
                </a:extLst>
              </a:tr>
              <a:tr h="283905">
                <a:tc>
                  <a:txBody>
                    <a:bodyPr/>
                    <a:lstStyle/>
                    <a:p>
                      <a:pPr marL="0" marR="0">
                        <a:lnSpc>
                          <a:spcPct val="115000"/>
                        </a:lnSpc>
                        <a:spcAft>
                          <a:spcPts val="500"/>
                        </a:spcAft>
                        <a:buNone/>
                      </a:pPr>
                      <a:r>
                        <a:rPr lang="en-US" sz="1400">
                          <a:effectLst/>
                        </a:rPr>
                        <a:t>Integer meter value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O(1) arithmetic</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Fixed size, commonly 2 bytes for unsigned short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Best for calculations; leading zeroes are not retained.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769129492"/>
                  </a:ext>
                </a:extLst>
              </a:tr>
              <a:tr h="431781">
                <a:tc>
                  <a:txBody>
                    <a:bodyPr/>
                    <a:lstStyle/>
                    <a:p>
                      <a:pPr marL="0" marR="0">
                        <a:lnSpc>
                          <a:spcPct val="115000"/>
                        </a:lnSpc>
                        <a:spcAft>
                          <a:spcPts val="500"/>
                        </a:spcAft>
                        <a:buNone/>
                      </a:pPr>
                      <a:r>
                        <a:rPr lang="en-US" sz="1400">
                          <a:effectLst/>
                        </a:rPr>
                        <a:t>Text such as "01530"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O(d) to validate/convert; O(d) to compare as text if numeric meaning is needed</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At least d characters plus terminator for a C string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Preserves formatting, but requires conversion and validation.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282358512"/>
                  </a:ext>
                </a:extLst>
              </a:tr>
            </a:tbl>
          </a:graphicData>
        </a:graphic>
      </p:graphicFrame>
      <p:sp>
        <p:nvSpPr>
          <p:cNvPr id="13" name="TextBox 12">
            <a:extLst>
              <a:ext uri="{FF2B5EF4-FFF2-40B4-BE49-F238E27FC236}">
                <a16:creationId xmlns:a16="http://schemas.microsoft.com/office/drawing/2014/main" id="{7688E400-222D-2F00-F87B-ECF3CB73E699}"/>
              </a:ext>
            </a:extLst>
          </p:cNvPr>
          <p:cNvSpPr txBox="1"/>
          <p:nvPr/>
        </p:nvSpPr>
        <p:spPr>
          <a:xfrm>
            <a:off x="514350" y="8420705"/>
            <a:ext cx="6000749" cy="1200329"/>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For the assignment's small fixed register, integer storage is simpler and faster. Text input may still be read as a line and then safely converted, but the value used for arithmetic should be numeric.</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632887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74BB4-8B5D-756E-B9DE-F83E4B5AB3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34977-229B-564C-50C5-AAC996F0A62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84E3AC37-0C69-E8C5-7E62-F2EA66988E8C}"/>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DD38E7AF-E840-0916-CE8C-4899C3FC5C42}"/>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5F56840F-204E-BD88-1519-BC61CD3AA281}"/>
              </a:ext>
            </a:extLst>
          </p:cNvPr>
          <p:cNvSpPr txBox="1"/>
          <p:nvPr/>
        </p:nvSpPr>
        <p:spPr>
          <a:xfrm>
            <a:off x="321467" y="680094"/>
            <a:ext cx="6215066" cy="1133644"/>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mn-lt"/>
                <a:ea typeface="MS Gothic" panose="020B0609070205080204" pitchFamily="49" charset="-128"/>
                <a:cs typeface="Times New Roman" panose="02020603050405020304" pitchFamily="18" charset="0"/>
              </a:rPr>
              <a:t>TASK 2 – Choose the Data Types:</a:t>
            </a:r>
            <a:endParaRPr lang="en-IN" sz="2000" b="1" kern="0" dirty="0">
              <a:solidFill>
                <a:schemeClr val="tx1"/>
              </a:solidFill>
              <a:effectLst/>
              <a:latin typeface="+mn-lt"/>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mn-lt"/>
                <a:ea typeface="MS Gothic" panose="020B0609070205080204" pitchFamily="49" charset="-128"/>
                <a:cs typeface="Times New Roman" panose="02020603050405020304" pitchFamily="18" charset="0"/>
              </a:rPr>
              <a:t> Recommended types and portability:</a:t>
            </a:r>
          </a:p>
          <a:p>
            <a:pPr marL="0" marR="0">
              <a:lnSpc>
                <a:spcPct val="100000"/>
              </a:lnSpc>
              <a:spcBef>
                <a:spcPts val="1000"/>
              </a:spcBef>
              <a:buNone/>
            </a:pPr>
            <a:endParaRPr lang="en-IN" sz="13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C284468-6D70-ADE0-F1E7-9B18796D4360}"/>
              </a:ext>
            </a:extLst>
          </p:cNvPr>
          <p:cNvGraphicFramePr>
            <a:graphicFrameLocks noGrp="1"/>
          </p:cNvGraphicFramePr>
          <p:nvPr>
            <p:extLst>
              <p:ext uri="{D42A27DB-BD31-4B8C-83A1-F6EECF244321}">
                <p14:modId xmlns:p14="http://schemas.microsoft.com/office/powerpoint/2010/main" val="4291963112"/>
              </p:ext>
            </p:extLst>
          </p:nvPr>
        </p:nvGraphicFramePr>
        <p:xfrm>
          <a:off x="417909" y="1812963"/>
          <a:ext cx="6022182" cy="7496052"/>
        </p:xfrm>
        <a:graphic>
          <a:graphicData uri="http://schemas.openxmlformats.org/drawingml/2006/table">
            <a:tbl>
              <a:tblPr firstRow="1" firstCol="1" bandRow="1">
                <a:tableStyleId>{5940675A-B579-460E-94D1-54222C63F5DA}</a:tableStyleId>
              </a:tblPr>
              <a:tblGrid>
                <a:gridCol w="2007394">
                  <a:extLst>
                    <a:ext uri="{9D8B030D-6E8A-4147-A177-3AD203B41FA5}">
                      <a16:colId xmlns:a16="http://schemas.microsoft.com/office/drawing/2014/main" val="2166676472"/>
                    </a:ext>
                  </a:extLst>
                </a:gridCol>
                <a:gridCol w="2007394">
                  <a:extLst>
                    <a:ext uri="{9D8B030D-6E8A-4147-A177-3AD203B41FA5}">
                      <a16:colId xmlns:a16="http://schemas.microsoft.com/office/drawing/2014/main" val="1631810818"/>
                    </a:ext>
                  </a:extLst>
                </a:gridCol>
                <a:gridCol w="2007394">
                  <a:extLst>
                    <a:ext uri="{9D8B030D-6E8A-4147-A177-3AD203B41FA5}">
                      <a16:colId xmlns:a16="http://schemas.microsoft.com/office/drawing/2014/main" val="1303110567"/>
                    </a:ext>
                  </a:extLst>
                </a:gridCol>
              </a:tblGrid>
              <a:tr h="432446">
                <a:tc>
                  <a:txBody>
                    <a:bodyPr/>
                    <a:lstStyle/>
                    <a:p>
                      <a:pPr marL="0" marR="0">
                        <a:lnSpc>
                          <a:spcPct val="115000"/>
                        </a:lnSpc>
                        <a:spcAft>
                          <a:spcPts val="500"/>
                        </a:spcAft>
                        <a:buNone/>
                      </a:pPr>
                      <a:r>
                        <a:rPr lang="en-US" sz="1400">
                          <a:effectLst/>
                        </a:rPr>
                        <a:t>Item</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Recommended type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Reason / range consideration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525636702"/>
                  </a:ext>
                </a:extLst>
              </a:tr>
              <a:tr h="1322325">
                <a:tc>
                  <a:txBody>
                    <a:bodyPr/>
                    <a:lstStyle/>
                    <a:p>
                      <a:pPr marL="0" marR="0">
                        <a:lnSpc>
                          <a:spcPct val="115000"/>
                        </a:lnSpc>
                        <a:spcAft>
                          <a:spcPts val="500"/>
                        </a:spcAft>
                        <a:buNone/>
                      </a:pPr>
                      <a:r>
                        <a:rPr lang="en-US" sz="1400">
                          <a:effectLst/>
                        </a:rPr>
                        <a:t>Meter reading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unsigned short or uint16_t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The brief specifies a 16-bit register. Confirm USHRT_MAX; uint16_t exists only where an exact 16-bit type is available.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385315051"/>
                  </a:ext>
                </a:extLst>
              </a:tr>
              <a:tr h="877386">
                <a:tc>
                  <a:txBody>
                    <a:bodyPr/>
                    <a:lstStyle/>
                    <a:p>
                      <a:pPr marL="0" marR="0">
                        <a:lnSpc>
                          <a:spcPct val="115000"/>
                        </a:lnSpc>
                        <a:spcAft>
                          <a:spcPts val="500"/>
                        </a:spcAft>
                        <a:buNone/>
                      </a:pPr>
                      <a:r>
                        <a:rPr lang="en-US" sz="1400" dirty="0">
                          <a:effectLst/>
                        </a:rPr>
                        <a:t>Units consumed</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unsigned int / uint32_t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Non-negative; wide enough for the difference between two 16-bit readings.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286094803"/>
                  </a:ext>
                </a:extLst>
              </a:tr>
              <a:tr h="877386">
                <a:tc>
                  <a:txBody>
                    <a:bodyPr/>
                    <a:lstStyle/>
                    <a:p>
                      <a:pPr marL="0" marR="0">
                        <a:lnSpc>
                          <a:spcPct val="115000"/>
                        </a:lnSpc>
                        <a:spcAft>
                          <a:spcPts val="500"/>
                        </a:spcAft>
                        <a:buNone/>
                      </a:pPr>
                      <a:r>
                        <a:rPr lang="en-US" sz="1400">
                          <a:effectLst/>
                        </a:rPr>
                        <a:t>Household count / loop index</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size_t or unsigned long long as appropriate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err="1">
                          <a:effectLst/>
                        </a:rPr>
                        <a:t>size_t</a:t>
                      </a:r>
                      <a:r>
                        <a:rPr lang="en-US" sz="1400" dirty="0">
                          <a:effectLst/>
                        </a:rPr>
                        <a:t> is natural for array sizes; district-wide counts must not rely on a 16-bit int.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941008929"/>
                  </a:ext>
                </a:extLst>
              </a:tr>
              <a:tr h="654916">
                <a:tc>
                  <a:txBody>
                    <a:bodyPr/>
                    <a:lstStyle/>
                    <a:p>
                      <a:pPr marL="0" marR="0">
                        <a:lnSpc>
                          <a:spcPct val="115000"/>
                        </a:lnSpc>
                        <a:spcAft>
                          <a:spcPts val="500"/>
                        </a:spcAft>
                        <a:buNone/>
                      </a:pPr>
                      <a:r>
                        <a:rPr lang="en-US" sz="1400" dirty="0">
                          <a:effectLst/>
                        </a:rPr>
                        <a:t>Single bill in paise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long long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Integer arithmetic avoids binary floating-point rounding.</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286598846"/>
                  </a:ext>
                </a:extLst>
              </a:tr>
              <a:tr h="654916">
                <a:tc>
                  <a:txBody>
                    <a:bodyPr/>
                    <a:lstStyle/>
                    <a:p>
                      <a:pPr marL="0" marR="0">
                        <a:lnSpc>
                          <a:spcPct val="115000"/>
                        </a:lnSpc>
                        <a:spcAft>
                          <a:spcPts val="500"/>
                        </a:spcAft>
                        <a:buNone/>
                      </a:pPr>
                      <a:r>
                        <a:rPr lang="en-US" sz="1400">
                          <a:effectLst/>
                        </a:rPr>
                        <a:t>Total collection in paise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long long / int64_t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A district total may exceed a 32-bit signed long.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369364978"/>
                  </a:ext>
                </a:extLst>
              </a:tr>
              <a:tr h="877386">
                <a:tc>
                  <a:txBody>
                    <a:bodyPr/>
                    <a:lstStyle/>
                    <a:p>
                      <a:pPr marL="0" marR="0">
                        <a:lnSpc>
                          <a:spcPct val="115000"/>
                        </a:lnSpc>
                        <a:spcAft>
                          <a:spcPts val="500"/>
                        </a:spcAft>
                        <a:buNone/>
                      </a:pPr>
                      <a:r>
                        <a:rPr lang="en-US" sz="1400">
                          <a:effectLst/>
                        </a:rPr>
                        <a:t>Tariff rate in paise per unit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int or long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Small integer values, with a type chosen consistently for arithmetic.</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439992532"/>
                  </a:ext>
                </a:extLst>
              </a:tr>
              <a:tr h="1099855">
                <a:tc>
                  <a:txBody>
                    <a:bodyPr/>
                    <a:lstStyle/>
                    <a:p>
                      <a:pPr marL="0" marR="0">
                        <a:lnSpc>
                          <a:spcPct val="115000"/>
                        </a:lnSpc>
                        <a:spcAft>
                          <a:spcPts val="500"/>
                        </a:spcAft>
                        <a:buNone/>
                      </a:pPr>
                      <a:r>
                        <a:rPr lang="en-US" sz="1400">
                          <a:effectLst/>
                        </a:rPr>
                        <a:t>Text category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enum or char array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err="1">
                          <a:effectLst/>
                        </a:rPr>
                        <a:t>enum</a:t>
                      </a:r>
                      <a:r>
                        <a:rPr lang="en-US" sz="1400" dirty="0">
                          <a:effectLst/>
                        </a:rPr>
                        <a:t> is suitable for a fixed set of named categories; string if values come from external data.</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529437545"/>
                  </a:ext>
                </a:extLst>
              </a:tr>
            </a:tbl>
          </a:graphicData>
        </a:graphic>
      </p:graphicFrame>
    </p:spTree>
    <p:extLst>
      <p:ext uri="{BB962C8B-B14F-4D97-AF65-F5344CB8AC3E}">
        <p14:creationId xmlns:p14="http://schemas.microsoft.com/office/powerpoint/2010/main" val="2516726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2390E-2849-202F-59C4-188DAE60C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B1AEE0-4713-84CB-A56A-E8DFF44657EC}"/>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E6AA309-386A-595C-1386-9CF201A90276}"/>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2022BE25-8978-4819-60A8-74A8729E0898}"/>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6BFF2C6E-B893-1C73-4BC4-2C9A6F93F4F8}"/>
              </a:ext>
            </a:extLst>
          </p:cNvPr>
          <p:cNvSpPr txBox="1"/>
          <p:nvPr/>
        </p:nvSpPr>
        <p:spPr>
          <a:xfrm>
            <a:off x="514350" y="774689"/>
            <a:ext cx="5829300" cy="2031325"/>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 does not guarantee that int, long or long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have the same size on every platform. Use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to measure the local implementation and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limits.h</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float.h</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to inspect ranges. A common 64-bit Windows compiler uses 4-byte int and 4-byte long, while long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is 8 bytes; many 64-bit Unix-like systems use an 8-byte long. These are common examples, not universal guarantees.</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8F2FD851-3149-A941-F53A-8AFBC7AB3B72}"/>
              </a:ext>
            </a:extLst>
          </p:cNvPr>
          <p:cNvSpPr txBox="1"/>
          <p:nvPr/>
        </p:nvSpPr>
        <p:spPr>
          <a:xfrm>
            <a:off x="457200" y="2881924"/>
            <a:ext cx="6643688" cy="6104235"/>
          </a:xfrm>
          <a:prstGeom prst="rect">
            <a:avLst/>
          </a:prstGeom>
          <a:noFill/>
        </p:spPr>
        <p:txBody>
          <a:bodyPr wrap="square">
            <a:spAutoFit/>
          </a:bodyPr>
          <a:lstStyle/>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limits.h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float.h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(short)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zu</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USHRT_MAX = %u\n",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(short), (unsigned)USHRT_MAX);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zu</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INT_MAX = %d\n",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INT_MAX);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zu</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LONG_MAX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ld</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LONG_MAX);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long)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zu</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LLONG_MAX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lld</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long), LLONG_MAX);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("FLT_DIG = %d, DBL_DIG = %d\n", FLT_DIG, DBL_DIG);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841945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67FC-26C2-8910-9716-F75F76401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F5EEB-CA7A-2B13-F586-DC8391F4960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7BA59CF-2236-62A5-BAD7-373B4C3DE6A5}"/>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27DB8D0A-FE0C-D4D9-3232-ADEACF9B4F82}"/>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EEFF4206-B5C6-CA99-861E-CBDCB05BAEB7}"/>
              </a:ext>
            </a:extLst>
          </p:cNvPr>
          <p:cNvSpPr txBox="1"/>
          <p:nvPr/>
        </p:nvSpPr>
        <p:spPr>
          <a:xfrm>
            <a:off x="450056" y="855764"/>
            <a:ext cx="5957888" cy="3608680"/>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Why money is stored as integer paise: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rupee has 100 paise. A bill such as ₹162.50 is represented as 16,250 paise. Integer addition and multiplication are exact as long as the chosen integer type does not overflow. In contrast, many decimal fractions cannot be represented exactly in binary floating point. Repeatedly adding float rupee amounts can accumulate small representation errors.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For example, a bill of ₹162.50 repeated 4,000 times is exactly ₹650,000.00, or 65,000,000 paise. Store the individual bill as 16,250 paise and sum in a sufficiently wide integer. The integer result is exact</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6182352-9C0D-469D-774E-EBC437498063}"/>
              </a:ext>
            </a:extLst>
          </p:cNvPr>
          <p:cNvSpPr txBox="1"/>
          <p:nvPr/>
        </p:nvSpPr>
        <p:spPr>
          <a:xfrm>
            <a:off x="514350" y="4703056"/>
            <a:ext cx="5014914" cy="5078313"/>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Meter rollover without if–else:</a:t>
            </a:r>
          </a:p>
          <a:p>
            <a:pPr marL="0" marR="0">
              <a:lnSpc>
                <a:spcPct val="100000"/>
              </a:lnSpc>
              <a:spcBef>
                <a:spcPts val="1000"/>
              </a:spcBef>
              <a:buNone/>
            </a:pPr>
            <a:endParaRPr lang="en-US" b="1" dirty="0">
              <a:latin typeface="Times New Roman" panose="02020603050405020304" pitchFamily="18" charset="0"/>
              <a:ea typeface="MS Gothic" panose="020B0609070205080204" pitchFamily="49" charset="-128"/>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Expected output on a system where unsigned short is 2 bytes and has maximum 65535:</a:t>
            </a:r>
            <a:endParaRPr lang="en-IN"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Sizeof</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meter_t</a:t>
            </a:r>
            <a:r>
              <a:rPr lang="en-US" dirty="0">
                <a:latin typeface="Times New Roman" panose="02020603050405020304" pitchFamily="18" charset="0"/>
                <a:cs typeface="Times New Roman" panose="02020603050405020304" pitchFamily="18" charset="0"/>
              </a:rPr>
              <a:t>) = 2 bytes, maximum reading = 65535</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Consumption: 330 units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Consumption: 256 units</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second result is 256 because the 16-bit register wraps modulo 65,536. The difference is 120 − 65,400 = −65,280; interpreted modulo 65,536, this is 256. The cast to unsigned short produces the register-width result. This approach assumes exactly one rollover and the stated register width.</a:t>
            </a:r>
            <a:endParaRPr lang="en-IN" dirty="0">
              <a:latin typeface="Times New Roman" panose="02020603050405020304" pitchFamily="18" charset="0"/>
              <a:cs typeface="Times New Roman" panose="02020603050405020304" pitchFamily="18" charset="0"/>
            </a:endParaRPr>
          </a:p>
          <a:p>
            <a:pPr marL="0" marR="0">
              <a:lnSpc>
                <a:spcPct val="100000"/>
              </a:lnSpc>
              <a:spcBef>
                <a:spcPts val="1000"/>
              </a:spcBef>
              <a:buNone/>
            </a:pPr>
            <a:endPar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972969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97F44-A8BC-70C3-4B35-95B7D8662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888F6-3CA6-9A83-F2A0-8FD8880DC87A}"/>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6218CC0B-0045-8F96-4F2A-B2400EB8D64F}"/>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C2DD3E55-840A-5C0A-F82A-4FE1D28B353B}"/>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4BDE4E02-4029-06F7-5A22-B1520EB33373}"/>
              </a:ext>
            </a:extLst>
          </p:cNvPr>
          <p:cNvSpPr txBox="1"/>
          <p:nvPr/>
        </p:nvSpPr>
        <p:spPr>
          <a:xfrm>
            <a:off x="171450" y="1016025"/>
            <a:ext cx="6843714" cy="7873950"/>
          </a:xfrm>
          <a:prstGeom prst="rect">
            <a:avLst/>
          </a:prstGeom>
          <a:noFill/>
        </p:spPr>
        <p:txBody>
          <a:bodyPr wrap="square">
            <a:spAutoFit/>
          </a:bodyPr>
          <a:lstStyle/>
          <a:p>
            <a:pPr marL="182880" marR="0">
              <a:lnSpc>
                <a:spcPct val="100000"/>
              </a:lnSpc>
              <a:spcAft>
                <a:spcPts val="500"/>
              </a:spcAft>
              <a:buNone/>
            </a:pPr>
            <a:r>
              <a:rPr lang="en-US" sz="1800" b="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Coding:</a:t>
            </a:r>
          </a:p>
          <a:p>
            <a:pPr marL="182880" marR="0">
              <a:lnSpc>
                <a:spcPct val="100000"/>
              </a:lnSpc>
              <a:spcAft>
                <a:spcPts val="500"/>
              </a:spcAft>
              <a:buNone/>
            </a:pPr>
            <a:endParaRPr lang="en-US" sz="1800" b="1"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limits.h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typedef unsigned short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unsigned int consumption(</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previous,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Conversion back to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applies modulo 65536 on a</a:t>
            </a: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16-bit register.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(unsigned short)(current - previous);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zu</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bytes, maximum reading = %u\n",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(unsigned)USHRT_MAX);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("Consumption: %u units\n", consumption(1200, 1530));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("Consumption: %u units\n", consumption(65400, 120));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347830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0336D-8B92-834D-C652-FC9EAC7B5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76AE4-1ECD-B657-6B94-F2C86F16BADD}"/>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C613A474-D474-5F72-CED7-5BB6AD92273E}"/>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0EE2FA52-7DCB-B264-5042-D00BCC1CD30C}"/>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B01534AB-1905-5D8A-D3F5-412CC0F9B7C3}"/>
              </a:ext>
            </a:extLst>
          </p:cNvPr>
          <p:cNvSpPr txBox="1"/>
          <p:nvPr/>
        </p:nvSpPr>
        <p:spPr>
          <a:xfrm>
            <a:off x="400049" y="906131"/>
            <a:ext cx="5829299" cy="4439677"/>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Alternative: double rupees: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 alternative is to store amounts as double rupees and round at the billing boundary, for example to two decimal places. Addition remains O(1), just as integer addition does. A double usually occupies 8 bytes, while a long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commonly occupies 8 bytes too. However, binary floating-point cannot represent every decimal amount exactly, and rounding policy must be explicit. Integer paise is preferable when every bill must be exact to the paisa.</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When n bills are added, each floating-point operation may introduce a small rounding error. The total error depends on the values and order of operations; it is not safe to assume it will always cancel. Integer paise has zero representation error until overflow occurs.</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595242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F4BE-DD00-4434-3504-5B0D1D0ED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9A0DB-C7AD-7047-47D2-359DEEB39D5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E8D8330-E936-41EE-888B-9D0C378AC26E}"/>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58C20C22-2C81-7292-1A56-A20DD77FF9A0}"/>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731E86B2-0CF0-0985-A1A7-FE533832486A}"/>
              </a:ext>
            </a:extLst>
          </p:cNvPr>
          <p:cNvSpPr txBox="1"/>
          <p:nvPr/>
        </p:nvSpPr>
        <p:spPr>
          <a:xfrm>
            <a:off x="385763" y="900929"/>
            <a:ext cx="4514850" cy="1241365"/>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mn-lt"/>
                <a:ea typeface="MS Gothic" panose="020B0609070205080204" pitchFamily="49" charset="-128"/>
                <a:cs typeface="Times New Roman" panose="02020603050405020304" pitchFamily="18" charset="0"/>
              </a:rPr>
              <a:t>TASK 3 – Define the Constants</a:t>
            </a:r>
          </a:p>
          <a:p>
            <a:pPr marL="0" marR="0">
              <a:lnSpc>
                <a:spcPct val="100000"/>
              </a:lnSpc>
              <a:spcBef>
                <a:spcPts val="1000"/>
              </a:spcBef>
              <a:buNone/>
            </a:pPr>
            <a:endParaRPr lang="en-IN" sz="2000" b="1" kern="0" dirty="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mn-lt"/>
                <a:ea typeface="MS Gothic" panose="020B0609070205080204" pitchFamily="49" charset="-128"/>
                <a:cs typeface="Times New Roman" panose="02020603050405020304" pitchFamily="18" charset="0"/>
              </a:rPr>
              <a:t> </a:t>
            </a:r>
            <a:r>
              <a:rPr lang="en-US" sz="1800" b="1" dirty="0" err="1">
                <a:solidFill>
                  <a:schemeClr val="tx1"/>
                </a:solidFill>
                <a:effectLst/>
                <a:latin typeface="+mn-lt"/>
                <a:ea typeface="MS Gothic" panose="020B0609070205080204" pitchFamily="49" charset="-128"/>
                <a:cs typeface="Times New Roman" panose="02020603050405020304" pitchFamily="18" charset="0"/>
              </a:rPr>
              <a:t>Centralised</a:t>
            </a:r>
            <a:r>
              <a:rPr lang="en-US" sz="1800" b="1" dirty="0">
                <a:solidFill>
                  <a:schemeClr val="tx1"/>
                </a:solidFill>
                <a:effectLst/>
                <a:latin typeface="+mn-lt"/>
                <a:ea typeface="MS Gothic" panose="020B0609070205080204" pitchFamily="49" charset="-128"/>
                <a:cs typeface="Times New Roman" panose="02020603050405020304" pitchFamily="18" charset="0"/>
              </a:rPr>
              <a:t> tariff definitions:</a:t>
            </a:r>
            <a:endParaRPr lang="en-IN" sz="13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043EBD45-351D-0D1B-BD58-B4E951F49F5F}"/>
              </a:ext>
            </a:extLst>
          </p:cNvPr>
          <p:cNvSpPr txBox="1"/>
          <p:nvPr/>
        </p:nvSpPr>
        <p:spPr>
          <a:xfrm>
            <a:off x="342901" y="2507857"/>
            <a:ext cx="6515099" cy="6786473"/>
          </a:xfrm>
          <a:prstGeom prst="rect">
            <a:avLst/>
          </a:prstGeom>
          <a:noFill/>
        </p:spPr>
        <p:txBody>
          <a:bodyPr wrap="square">
            <a:spAutoFit/>
          </a:bodyPr>
          <a:lstStyle/>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SLAB1_UNITS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SLAB2_UNITS 200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RATE1_PAISE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RATE2_PAISE 225</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RATE3_PAISE 450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FIXED_CHARGE_PAISE 5000L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paise = FIXED_CHARGE_PAISE;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(units &gt; SLAB2_UNITS)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(SLAB2_UNITS - SLAB1_UNITS) * RATE2_PAISE;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(long)(units - SLAB2_UNITS) * RATE3_PAISE;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else if (units &gt; SLAB1_UNITS)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(long)(units - SLAB1_UNITS) * RATE2_PAISE;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790914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3280-94FA-1F7D-7707-48036AA07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FCD53-0E66-1B3D-18C8-81C1A90365D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837866C-06B6-BA07-7C6E-C80FCA365C0A}"/>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8BFDA4B9-D129-73B0-90BA-66338816F814}"/>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B87C9DEC-83CA-BE7E-E68E-88F080EF4DF0}"/>
              </a:ext>
            </a:extLst>
          </p:cNvPr>
          <p:cNvSpPr txBox="1"/>
          <p:nvPr/>
        </p:nvSpPr>
        <p:spPr>
          <a:xfrm>
            <a:off x="235743" y="528637"/>
            <a:ext cx="6386513" cy="5763116"/>
          </a:xfrm>
          <a:prstGeom prst="rect">
            <a:avLst/>
          </a:prstGeom>
          <a:noFill/>
        </p:spPr>
        <p:txBody>
          <a:bodyPr wrap="square">
            <a:spAutoFit/>
          </a:bodyPr>
          <a:lstStyle/>
          <a:p>
            <a:pPr marL="182880" marR="0">
              <a:lnSpc>
                <a:spcPct val="100000"/>
              </a:lnSpc>
              <a:spcAft>
                <a:spcPts val="500"/>
              </a:spcAft>
              <a:buNone/>
            </a:pP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The first 100 units are free, so no energy charge is added for them.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tests[] = {0, 100, 150, 200, 350};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n = (int)(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tests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sizeof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tests[0]);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for (int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0;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&lt; n;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p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(tests[</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("%3d units -&gt; Rs %ld.%02ld\n",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tests[</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 / 100, p %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dirty="0"/>
          </a:p>
        </p:txBody>
      </p:sp>
      <p:sp>
        <p:nvSpPr>
          <p:cNvPr id="8" name="TextBox 7">
            <a:extLst>
              <a:ext uri="{FF2B5EF4-FFF2-40B4-BE49-F238E27FC236}">
                <a16:creationId xmlns:a16="http://schemas.microsoft.com/office/drawing/2014/main" id="{8B2F14E6-5F37-5496-E06B-9424201C8D65}"/>
              </a:ext>
            </a:extLst>
          </p:cNvPr>
          <p:cNvSpPr txBox="1"/>
          <p:nvPr/>
        </p:nvSpPr>
        <p:spPr>
          <a:xfrm>
            <a:off x="342900" y="6291753"/>
            <a:ext cx="3429000" cy="3098284"/>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Expected output:</a:t>
            </a:r>
          </a:p>
          <a:p>
            <a:pPr marL="0" marR="0">
              <a:lnSpc>
                <a:spcPct val="100000"/>
              </a:lnSpc>
              <a:spcAft>
                <a:spcPts val="500"/>
              </a:spcAft>
              <a:buNone/>
            </a:pPr>
            <a:endParaRPr lang="en-IN" sz="1800" b="1"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0 units -&gt; Rs 50.00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100 units -&gt; Rs 50.00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150 units -&gt; Rs 162.50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200 units -&gt; Rs 275.00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350 units -&gt; Rs 950.00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43223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6946E-E8BC-B3DB-111B-EF747B546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F8F46-DC6A-D040-B67B-DAC1C7C0914C}"/>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435B92D8-C558-4328-A490-0F493D1DCE5A}"/>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42DA5024-B604-2E7D-C998-FAE1E7CC40E5}"/>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4AB93CA9-04BF-6DF7-B3AF-2BDB33C50ECA}"/>
              </a:ext>
            </a:extLst>
          </p:cNvPr>
          <p:cNvSpPr txBox="1"/>
          <p:nvPr/>
        </p:nvSpPr>
        <p:spPr>
          <a:xfrm>
            <a:off x="428626" y="791894"/>
            <a:ext cx="3429000" cy="697627"/>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mn-lt"/>
                <a:ea typeface="MS Gothic" panose="020B0609070205080204" pitchFamily="49" charset="-128"/>
                <a:cs typeface="Times New Roman" panose="02020603050405020304" pitchFamily="18" charset="0"/>
              </a:rPr>
              <a:t>#define, const and </a:t>
            </a:r>
            <a:r>
              <a:rPr lang="en-US" sz="1800" b="1" dirty="0" err="1">
                <a:solidFill>
                  <a:schemeClr val="tx1"/>
                </a:solidFill>
                <a:effectLst/>
                <a:latin typeface="+mn-lt"/>
                <a:ea typeface="MS Gothic" panose="020B0609070205080204" pitchFamily="49" charset="-128"/>
                <a:cs typeface="Times New Roman" panose="02020603050405020304" pitchFamily="18" charset="0"/>
              </a:rPr>
              <a:t>enum</a:t>
            </a:r>
            <a:r>
              <a:rPr lang="en-US" sz="1800" b="1" dirty="0">
                <a:solidFill>
                  <a:schemeClr val="tx1"/>
                </a:solidFill>
                <a:effectLst/>
                <a:latin typeface="+mn-lt"/>
                <a:ea typeface="MS Gothic" panose="020B0609070205080204" pitchFamily="49" charset="-128"/>
                <a:cs typeface="Times New Roman" panose="02020603050405020304" pitchFamily="18" charset="0"/>
              </a:rPr>
              <a:t>:</a:t>
            </a:r>
          </a:p>
          <a:p>
            <a:pPr marL="0" marR="0">
              <a:lnSpc>
                <a:spcPct val="100000"/>
              </a:lnSpc>
              <a:spcBef>
                <a:spcPts val="1000"/>
              </a:spcBef>
              <a:buNone/>
            </a:pPr>
            <a:endParaRPr lang="en-IN" sz="13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A4A74694-BAAF-7410-75E8-7FBC78E51C67}"/>
              </a:ext>
            </a:extLst>
          </p:cNvPr>
          <p:cNvGraphicFramePr>
            <a:graphicFrameLocks noGrp="1"/>
          </p:cNvGraphicFramePr>
          <p:nvPr>
            <p:extLst>
              <p:ext uri="{D42A27DB-BD31-4B8C-83A1-F6EECF244321}">
                <p14:modId xmlns:p14="http://schemas.microsoft.com/office/powerpoint/2010/main" val="2648231462"/>
              </p:ext>
            </p:extLst>
          </p:nvPr>
        </p:nvGraphicFramePr>
        <p:xfrm>
          <a:off x="428625" y="1576273"/>
          <a:ext cx="5915025" cy="3625344"/>
        </p:xfrm>
        <a:graphic>
          <a:graphicData uri="http://schemas.openxmlformats.org/drawingml/2006/table">
            <a:tbl>
              <a:tblPr firstRow="1" firstCol="1" bandRow="1">
                <a:tableStyleId>{5940675A-B579-460E-94D1-54222C63F5DA}</a:tableStyleId>
              </a:tblPr>
              <a:tblGrid>
                <a:gridCol w="1971675">
                  <a:extLst>
                    <a:ext uri="{9D8B030D-6E8A-4147-A177-3AD203B41FA5}">
                      <a16:colId xmlns:a16="http://schemas.microsoft.com/office/drawing/2014/main" val="650669772"/>
                    </a:ext>
                  </a:extLst>
                </a:gridCol>
                <a:gridCol w="1971675">
                  <a:extLst>
                    <a:ext uri="{9D8B030D-6E8A-4147-A177-3AD203B41FA5}">
                      <a16:colId xmlns:a16="http://schemas.microsoft.com/office/drawing/2014/main" val="1599743655"/>
                    </a:ext>
                  </a:extLst>
                </a:gridCol>
                <a:gridCol w="1971675">
                  <a:extLst>
                    <a:ext uri="{9D8B030D-6E8A-4147-A177-3AD203B41FA5}">
                      <a16:colId xmlns:a16="http://schemas.microsoft.com/office/drawing/2014/main" val="2312421297"/>
                    </a:ext>
                  </a:extLst>
                </a:gridCol>
              </a:tblGrid>
              <a:tr h="136029">
                <a:tc>
                  <a:txBody>
                    <a:bodyPr/>
                    <a:lstStyle/>
                    <a:p>
                      <a:pPr marL="0" marR="0">
                        <a:lnSpc>
                          <a:spcPct val="115000"/>
                        </a:lnSpc>
                        <a:spcAft>
                          <a:spcPts val="500"/>
                        </a:spcAft>
                        <a:buNone/>
                      </a:pPr>
                      <a:r>
                        <a:rPr lang="en-US" sz="1400">
                          <a:effectLst/>
                        </a:rPr>
                        <a:t>Feature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Meaning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Best use here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800551066"/>
                  </a:ext>
                </a:extLst>
              </a:tr>
              <a:tr h="431781">
                <a:tc>
                  <a:txBody>
                    <a:bodyPr/>
                    <a:lstStyle/>
                    <a:p>
                      <a:pPr marL="0" marR="0">
                        <a:lnSpc>
                          <a:spcPct val="115000"/>
                        </a:lnSpc>
                        <a:spcAft>
                          <a:spcPts val="500"/>
                        </a:spcAft>
                        <a:buNone/>
                      </a:pPr>
                      <a:r>
                        <a:rPr lang="en-US" sz="1400">
                          <a:effectLst/>
                        </a:rPr>
                        <a:t>#define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Preprocessor replaces the token before compilation; it has no C type and no storage of its own.</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Simple tariff numbers and compile-time configuration.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781013226"/>
                  </a:ext>
                </a:extLst>
              </a:tr>
              <a:tr h="431781">
                <a:tc>
                  <a:txBody>
                    <a:bodyPr/>
                    <a:lstStyle/>
                    <a:p>
                      <a:pPr marL="0" marR="0">
                        <a:lnSpc>
                          <a:spcPct val="115000"/>
                        </a:lnSpc>
                        <a:spcAft>
                          <a:spcPts val="500"/>
                        </a:spcAft>
                        <a:buNone/>
                      </a:pPr>
                      <a:r>
                        <a:rPr lang="en-US" sz="1400">
                          <a:effectLst/>
                        </a:rPr>
                        <a:t>const variable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A typed object that code is not allowed to modify through that identifier; scope and debugger visibility are clearer.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Typed values, especially local or grouped configuration.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038069738"/>
                  </a:ext>
                </a:extLst>
              </a:tr>
              <a:tr h="283905">
                <a:tc>
                  <a:txBody>
                    <a:bodyPr/>
                    <a:lstStyle/>
                    <a:p>
                      <a:pPr marL="0" marR="0">
                        <a:lnSpc>
                          <a:spcPct val="115000"/>
                        </a:lnSpc>
                        <a:spcAft>
                          <a:spcPts val="500"/>
                        </a:spcAft>
                        <a:buNone/>
                      </a:pPr>
                      <a:r>
                        <a:rPr lang="en-US" sz="1400">
                          <a:effectLst/>
                        </a:rPr>
                        <a:t>enum</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Defines named integer constants for a finite set of alternatives.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Customer categories or named states, not fractional tariff rates.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974756749"/>
                  </a:ext>
                </a:extLst>
              </a:tr>
            </a:tbl>
          </a:graphicData>
        </a:graphic>
      </p:graphicFrame>
      <p:sp>
        <p:nvSpPr>
          <p:cNvPr id="9" name="TextBox 8">
            <a:extLst>
              <a:ext uri="{FF2B5EF4-FFF2-40B4-BE49-F238E27FC236}">
                <a16:creationId xmlns:a16="http://schemas.microsoft.com/office/drawing/2014/main" id="{4AD596CC-1CC1-6C94-FF5F-CCA72E9AB8E5}"/>
              </a:ext>
            </a:extLst>
          </p:cNvPr>
          <p:cNvSpPr txBox="1"/>
          <p:nvPr/>
        </p:nvSpPr>
        <p:spPr>
          <a:xfrm>
            <a:off x="428626" y="5683846"/>
            <a:ext cx="5915024" cy="2926442"/>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macro is easy to update in one place but does not provide normal type checking and may be less convenient to inspect in a debugger. A const object is type-checked and has scope; it may or may not require storage after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optimisation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enum</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is best for discrete integer choices. Runtime and memory effects of these choices are usually negligible for simple tariff constants; correctness and maintainability are more important.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Changing RATE2_PAISE from 225 to 230 changes every applicable bill consistently because the rate is defined once. After changing it, recompile and rerun all boundary tests.</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05583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90F87-E877-0866-8AFF-88DF9C236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CE0FD4-0516-D65D-367E-DA1CC7FD380E}"/>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9FA14BC-6BAE-66A1-8DB2-25AD8091607F}"/>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C1322308-51E7-D676-C453-D78DB389D806}"/>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A120A2EE-BE6C-17E2-EB53-62B9EAD49B0D}"/>
              </a:ext>
            </a:extLst>
          </p:cNvPr>
          <p:cNvSpPr txBox="1"/>
          <p:nvPr/>
        </p:nvSpPr>
        <p:spPr>
          <a:xfrm>
            <a:off x="414334" y="870724"/>
            <a:ext cx="3429000" cy="400110"/>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4 – Use Macros Safely</a:t>
            </a:r>
            <a:endParaRPr lang="en-IN" sz="2000" b="1" kern="0" dirty="0">
              <a:solidFill>
                <a:srgbClr val="365F91"/>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BFB15CA9-0E2C-C2D9-5DFD-BE5C7106ADB5}"/>
              </a:ext>
            </a:extLst>
          </p:cNvPr>
          <p:cNvSpPr txBox="1"/>
          <p:nvPr/>
        </p:nvSpPr>
        <p:spPr>
          <a:xfrm>
            <a:off x="728663" y="1488194"/>
            <a:ext cx="3429000" cy="697627"/>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Safe macro examples:</a:t>
            </a:r>
          </a:p>
          <a:p>
            <a:pPr marL="0" marR="0">
              <a:lnSpc>
                <a:spcPct val="100000"/>
              </a:lnSpc>
              <a:spcBef>
                <a:spcPts val="1000"/>
              </a:spcBef>
              <a:buNone/>
            </a:pPr>
            <a:endParaRPr lang="en-IN" sz="13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10" name="TextBox 9">
            <a:extLst>
              <a:ext uri="{FF2B5EF4-FFF2-40B4-BE49-F238E27FC236}">
                <a16:creationId xmlns:a16="http://schemas.microsoft.com/office/drawing/2014/main" id="{4EF16C07-B23E-934F-98B2-248F7771B911}"/>
              </a:ext>
            </a:extLst>
          </p:cNvPr>
          <p:cNvSpPr txBox="1"/>
          <p:nvPr/>
        </p:nvSpPr>
        <p:spPr>
          <a:xfrm>
            <a:off x="414334" y="2185821"/>
            <a:ext cx="5829299" cy="5421997"/>
          </a:xfrm>
          <a:prstGeom prst="rect">
            <a:avLst/>
          </a:prstGeom>
          <a:noFill/>
        </p:spPr>
        <p:txBody>
          <a:bodyPr wrap="square">
            <a:spAutoFit/>
          </a:bodyPr>
          <a:lstStyle/>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RUPEES_TO_PAISE(r) ((long long)(r) * 100LL)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SQUARE(x) ((x) * (x))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MAX(a, b) (((a) &gt; (b)) ? (a) : (b))</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a = 3;</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b = 7;</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("Square: %d\n", SQUARE(a + 1));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("Maximum: %d\n", MAX(a, b));</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("Rupees to paise: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lld</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 RUPEES_TO_PAISE(50));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14" name="TextBox 13">
            <a:extLst>
              <a:ext uri="{FF2B5EF4-FFF2-40B4-BE49-F238E27FC236}">
                <a16:creationId xmlns:a16="http://schemas.microsoft.com/office/drawing/2014/main" id="{A3A9C23C-1F48-2936-E403-C20795C85742}"/>
              </a:ext>
            </a:extLst>
          </p:cNvPr>
          <p:cNvSpPr txBox="1"/>
          <p:nvPr/>
        </p:nvSpPr>
        <p:spPr>
          <a:xfrm>
            <a:off x="414333" y="7314782"/>
            <a:ext cx="3429000" cy="2416046"/>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b="1"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b="1" dirty="0">
                <a:effectLst/>
                <a:latin typeface="Times New Roman" panose="02020603050405020304" pitchFamily="18" charset="0"/>
                <a:ea typeface="MS Mincho" panose="02020609040205080304" pitchFamily="49" charset="-128"/>
                <a:cs typeface="Times New Roman" panose="02020603050405020304" pitchFamily="18" charset="0"/>
              </a:rPr>
              <a:t>Expected output:</a:t>
            </a:r>
          </a:p>
          <a:p>
            <a:pPr marL="0" marR="0">
              <a:lnSpc>
                <a:spcPct val="100000"/>
              </a:lnSpc>
              <a:spcAft>
                <a:spcPts val="500"/>
              </a:spcAft>
              <a:buNone/>
            </a:pPr>
            <a:endParaRPr lang="en-IN" sz="1800" b="1"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Square: 16</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Maximum: 7</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Rupees to paise: 5000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663447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7A98A-7F4F-CAA4-D067-B8D8765D27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C53DE-808E-348D-1811-19FAF57E5CF1}"/>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26C508D9-B0AB-40DD-0767-61774AC5DBAC}"/>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6E9937C3-01DF-8185-9C57-EFAE0ED7EB69}"/>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2A28DFCF-53E8-9325-61F9-61E7A19BC38C}"/>
              </a:ext>
            </a:extLst>
          </p:cNvPr>
          <p:cNvSpPr txBox="1"/>
          <p:nvPr/>
        </p:nvSpPr>
        <p:spPr>
          <a:xfrm>
            <a:off x="371474" y="787354"/>
            <a:ext cx="5972175" cy="8874224"/>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Common macro pitfalls: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Without parentheses, #define SQUARE(x) x*x makes SQUARE(a+1) expand to a+1*a+1. With a = 3, this evaluates to 3 + 3 + 1 = 7 rather than 16. Parentheses around the parameter and the whole expression fix precedence.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MAX(a, b) can evaluate an argument more than once. For example, MAX(</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j) may increment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during the comparison and again if the first argument is selected. Avoid side effects in macro arguments.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Macros are expanded by the preprocessor. Run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-E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file.c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file.i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inspect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file.i</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to see the expanded source.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 function is usually better when arguments may have side effects, type checking matters, or the logic is more than a tiny expression.</a:t>
            </a:r>
          </a:p>
          <a:p>
            <a:pPr marL="342900" marR="0" lvl="0" indent="-342900">
              <a:lnSpc>
                <a:spcPct val="100000"/>
              </a:lnSpc>
              <a:spcAft>
                <a:spcPts val="200"/>
              </a:spcAft>
              <a:buFont typeface="Symbol" panose="05050102010706020507" pitchFamily="18" charset="2"/>
              <a:buChar char=""/>
              <a:tabLst>
                <a:tab pos="228600" algn="l"/>
              </a:tabLst>
            </a:pP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Inline function alternative and complexity:</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static inline int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square_int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x * x;</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static inline int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max_int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a, int b)</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(a &gt; b) ? a : b;</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444348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59DA-5B96-11DD-919B-2CE39E618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7588A-D860-6B4B-3F49-11513A6B88C1}"/>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BEF3F8C-AAC5-BDD1-643D-7EC0F0F8DACF}"/>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157AC260-3FA8-3ADF-B668-60A58EBF6CCC}"/>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16799157-C0B4-931F-83C5-034CA7B40FE5}"/>
              </a:ext>
            </a:extLst>
          </p:cNvPr>
          <p:cNvSpPr txBox="1"/>
          <p:nvPr/>
        </p:nvSpPr>
        <p:spPr>
          <a:xfrm>
            <a:off x="514349" y="1036502"/>
            <a:ext cx="5829299" cy="5314275"/>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Both a macro expansion and a function call perform constant-time work for these operations: O(1). A compiler may inline an inline function, but it is not required to do so. A macro's expanded code may be repeated at every use, increasing source and potentially machine-code size when used many times. An inline function has one definition at source level and gives type checking;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optimisation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may remove call overhead. For this assignment, use macros for simple compile-time constants and prefer functions for reusable calculations.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4.4 Preprocessor evidence: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-E task4.c -o task4.i</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Open task4.i and locate the expanded SQUARE / MAX expressions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-Wall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-std=c11 task4.c -o task4</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./task4</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334802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D72F9-BEAE-96F0-9F48-64FADA2B8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3F2A1F-710B-F539-BB2A-593F50F33256}"/>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3B957686-E648-F00C-D20F-A3078D143DB8}"/>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30115226-EA0B-C9DD-1921-DBC5D554F83A}"/>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7DA0BF94-0A86-86D3-AA1E-B702F72193C8}"/>
              </a:ext>
            </a:extLst>
          </p:cNvPr>
          <p:cNvSpPr txBox="1"/>
          <p:nvPr/>
        </p:nvSpPr>
        <p:spPr>
          <a:xfrm>
            <a:off x="428622" y="725860"/>
            <a:ext cx="5829300" cy="3226524"/>
          </a:xfrm>
          <a:prstGeom prst="rect">
            <a:avLst/>
          </a:prstGeom>
          <a:noFill/>
        </p:spPr>
        <p:txBody>
          <a:bodyPr wrap="square">
            <a:spAutoFit/>
          </a:bodyPr>
          <a:lstStyle/>
          <a:p>
            <a:pPr marL="0" marR="0">
              <a:lnSpc>
                <a:spcPct val="100000"/>
              </a:lnSpc>
              <a:spcBef>
                <a:spcPts val="2400"/>
              </a:spcBef>
              <a:buNone/>
            </a:pPr>
            <a:r>
              <a:rPr lang="en-US" sz="18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5 – Header Files and Conditional Compilation</a:t>
            </a:r>
            <a:endParaRPr lang="en-IN" sz="18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endParaRPr lang="en-US" sz="1800" b="1" dirty="0">
              <a:solidFill>
                <a:schemeClr val="tx1"/>
              </a:solidFill>
              <a:effectLst/>
              <a:latin typeface="+mn-lt"/>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mn-lt"/>
                <a:ea typeface="MS Gothic" panose="020B0609070205080204" pitchFamily="49" charset="-128"/>
                <a:cs typeface="Times New Roman" panose="02020603050405020304" pitchFamily="18" charset="0"/>
              </a:rPr>
              <a:t>5.1 Example project structure:</a:t>
            </a:r>
          </a:p>
          <a:p>
            <a:pPr marL="0" marR="0">
              <a:lnSpc>
                <a:spcPct val="100000"/>
              </a:lnSpc>
              <a:spcBef>
                <a:spcPts val="1000"/>
              </a:spcBef>
              <a:buNone/>
            </a:pPr>
            <a:endParaRPr lang="en-IN" sz="1800" b="1" dirty="0">
              <a:solidFill>
                <a:schemeClr val="tx1"/>
              </a:solidFill>
              <a:effectLst/>
              <a:latin typeface="+mn-lt"/>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mn-lt"/>
                <a:ea typeface="MS Mincho" panose="02020609040205080304" pitchFamily="49" charset="-128"/>
                <a:cs typeface="Times New Roman" panose="02020603050405020304" pitchFamily="18" charset="0"/>
              </a:rPr>
              <a:t>billing_project</a:t>
            </a:r>
            <a:r>
              <a:rPr lang="en-US" sz="1800" dirty="0">
                <a:solidFill>
                  <a:schemeClr val="tx1"/>
                </a:solidFill>
                <a:effectLst/>
                <a:latin typeface="+mn-lt"/>
                <a:ea typeface="MS Mincho" panose="02020609040205080304" pitchFamily="49" charset="-128"/>
                <a:cs typeface="Times New Roman" panose="02020603050405020304" pitchFamily="18" charset="0"/>
              </a:rPr>
              <a:t>/</a:t>
            </a:r>
            <a:endParaRPr lang="en-IN" sz="1800" dirty="0">
              <a:effectLst/>
              <a:latin typeface="+mn-lt"/>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    </a:t>
            </a:r>
            <a:r>
              <a:rPr lang="en-US" sz="1800" dirty="0" err="1">
                <a:solidFill>
                  <a:schemeClr val="tx1"/>
                </a:solidFill>
                <a:effectLst/>
                <a:latin typeface="+mn-lt"/>
                <a:ea typeface="MS Mincho" panose="02020609040205080304" pitchFamily="49" charset="-128"/>
                <a:cs typeface="Times New Roman" panose="02020603050405020304" pitchFamily="18" charset="0"/>
              </a:rPr>
              <a:t>main.c</a:t>
            </a:r>
            <a:endParaRPr lang="en-IN" sz="1800" dirty="0">
              <a:effectLst/>
              <a:latin typeface="+mn-lt"/>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    </a:t>
            </a:r>
            <a:r>
              <a:rPr lang="en-US" sz="1800" dirty="0" err="1">
                <a:solidFill>
                  <a:schemeClr val="tx1"/>
                </a:solidFill>
                <a:effectLst/>
                <a:latin typeface="+mn-lt"/>
                <a:ea typeface="MS Mincho" panose="02020609040205080304" pitchFamily="49" charset="-128"/>
                <a:cs typeface="Times New Roman" panose="02020603050405020304" pitchFamily="18" charset="0"/>
              </a:rPr>
              <a:t>tariff.c</a:t>
            </a:r>
            <a:endParaRPr lang="en-IN" sz="1800" dirty="0">
              <a:effectLst/>
              <a:latin typeface="+mn-lt"/>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    </a:t>
            </a:r>
            <a:r>
              <a:rPr lang="en-US" sz="1800" dirty="0" err="1">
                <a:solidFill>
                  <a:schemeClr val="tx1"/>
                </a:solidFill>
                <a:effectLst/>
                <a:latin typeface="+mn-lt"/>
                <a:ea typeface="MS Mincho" panose="02020609040205080304" pitchFamily="49" charset="-128"/>
                <a:cs typeface="Times New Roman" panose="02020603050405020304" pitchFamily="18" charset="0"/>
              </a:rPr>
              <a:t>billing.h</a:t>
            </a:r>
            <a:endParaRPr lang="en-IN" sz="1800" dirty="0">
              <a:effectLst/>
              <a:latin typeface="+mn-lt"/>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mn-lt"/>
                <a:ea typeface="MS Mincho" panose="02020609040205080304" pitchFamily="49" charset="-128"/>
                <a:cs typeface="Times New Roman" panose="02020603050405020304" pitchFamily="18" charset="0"/>
              </a:rPr>
              <a:t>    README.md</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053DA322-30A5-B665-3C9E-56D34A27DBB9}"/>
              </a:ext>
            </a:extLst>
          </p:cNvPr>
          <p:cNvSpPr txBox="1"/>
          <p:nvPr/>
        </p:nvSpPr>
        <p:spPr>
          <a:xfrm>
            <a:off x="428622" y="4118899"/>
            <a:ext cx="5829300" cy="5827236"/>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5.2 Header file: </a:t>
            </a:r>
            <a:r>
              <a:rPr lang="en-US" sz="1800" b="1" dirty="0" err="1">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billing.h</a:t>
            </a: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#ifndef BILLING_H</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BILLING_H</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SLAB1_UNITS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SLAB2_UNITS 200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RATE1_PAISE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RATE2_PAISE 225</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RATE3_PAISE 450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FIXED_CHARGE_PAISE 5000LL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unsigned int consumption(unsigned short previous,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unsigned short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#endif</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499699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EA238-9FC3-CEC5-8B59-0E0D5E964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617130-BA78-3789-5E4C-48F5FEDC5905}"/>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001CA4C2-B14F-FB2C-0D78-F028EB534EA6}"/>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6FFCC50B-989A-6F8B-95EC-D96068E086CD}"/>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DD5696EC-2307-3230-5665-27E14073F521}"/>
              </a:ext>
            </a:extLst>
          </p:cNvPr>
          <p:cNvSpPr txBox="1"/>
          <p:nvPr/>
        </p:nvSpPr>
        <p:spPr>
          <a:xfrm>
            <a:off x="442912" y="693546"/>
            <a:ext cx="5972175" cy="9279463"/>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5.3 Implementation file: </a:t>
            </a:r>
            <a:r>
              <a:rPr lang="en-US" sz="1800" b="1" dirty="0" err="1">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tariff.c</a:t>
            </a: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billing.h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unsigned int consumption(unsigned short previous,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unsigned short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(unsigned short)(current - previous);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FIXED_CHARGE_PAISE;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#ifdef DEBUG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(stderr, "[DEBUG] units=%d, fixed=%</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lld</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units, 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#endif</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(units &gt; SLAB2_UNITS)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(SLAB2_UNITS - SLAB1_UNITS) * RATE2_PAISE;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(long long)(units - SLAB2_UNITS) * RATE3_PAISE;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else if (units &gt; SLAB1_UNITS)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(long long)(units - SLAB1_UNITS) * RATE2_PAISE;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394203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82E1E-3644-58F6-9E31-7676ACD398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DB994-FA80-3710-693D-838A388CD2B4}"/>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33A85148-05AD-0EBF-AF02-8589D4553D93}"/>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D2778E55-40D5-D0F7-27F5-5C9BBC4F55C3}"/>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9F513C07-5B48-EBDF-E526-EF59173827E9}"/>
              </a:ext>
            </a:extLst>
          </p:cNvPr>
          <p:cNvSpPr txBox="1"/>
          <p:nvPr/>
        </p:nvSpPr>
        <p:spPr>
          <a:xfrm>
            <a:off x="514350" y="812081"/>
            <a:ext cx="5700713" cy="7702108"/>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5.4 Main file: </a:t>
            </a:r>
            <a:r>
              <a:rPr lang="en-US" sz="1800" b="1" dirty="0" err="1">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main.c</a:t>
            </a: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billing.h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units = 150;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 units -&gt; Rs %lld.%02lld\n",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units, paise / 100, paise %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Compile normally with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-Wall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-std=c11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tariff.c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-o billing. Compile with debug output enabled using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-Wall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-std=c11 -DDEBUG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tariff.c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billing_debug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#ifdef DEBUG includes the debugging statements only when DEBUG is defined at compilation.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Include guards prevent a header from being processed repeatedly within one translation unit. #include &lt;file&gt; typically searches the implementation's system include paths; #include "file" typically searches the current/source directory first, then configured include paths.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29880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F029F-AA01-F92B-8454-A370EF9B3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E5438-E3CB-F1F1-26C4-91B59308B56D}"/>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C1D0E493-7877-D26E-F8B4-5C6F91E2FED7}"/>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A7952A6E-3E1F-3608-143E-0380AEB67E59}"/>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8" name="TextBox 7">
            <a:extLst>
              <a:ext uri="{FF2B5EF4-FFF2-40B4-BE49-F238E27FC236}">
                <a16:creationId xmlns:a16="http://schemas.microsoft.com/office/drawing/2014/main" id="{D9700FAB-F796-CA31-BB7F-8EC6B77970A4}"/>
              </a:ext>
            </a:extLst>
          </p:cNvPr>
          <p:cNvSpPr txBox="1"/>
          <p:nvPr/>
        </p:nvSpPr>
        <p:spPr>
          <a:xfrm>
            <a:off x="435768" y="1018738"/>
            <a:ext cx="5986463" cy="2990562"/>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5.5 Compile-time versus run-time debug flag:</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With #ifdef DEBUG, a non-debug build has no debug statement in the compiled program and no run-time condition to check. With if (debug), the executable generally retains the debug code and each guarded location performs a condition test. The run-time approach allows debug mode to be switched while the program runs; the preprocessor approach creates separate debug and normal builds. The additional test is O(1) per guarded call.</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649211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02833-3FB2-8CCB-9851-C7EAE16E5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90950-EF6B-1ECF-0497-ECA4ACA32E5A}"/>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6A1F8913-0636-7800-ADAA-60E86E178707}"/>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00A9A80A-9DC7-7451-28BA-47C0EAF37C54}"/>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A0EAD1A2-D2D8-A6C4-EB26-9E76DB02E7CF}"/>
              </a:ext>
            </a:extLst>
          </p:cNvPr>
          <p:cNvSpPr txBox="1"/>
          <p:nvPr/>
        </p:nvSpPr>
        <p:spPr>
          <a:xfrm>
            <a:off x="514350" y="749343"/>
            <a:ext cx="4957763" cy="1420902"/>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6 – Read and Print Data Correctly:</a:t>
            </a:r>
          </a:p>
          <a:p>
            <a:pPr marL="0" marR="0">
              <a:lnSpc>
                <a:spcPct val="100000"/>
              </a:lnSpc>
              <a:spcBef>
                <a:spcPts val="2400"/>
              </a:spcBef>
              <a:buNone/>
            </a:pPr>
            <a:endParaRPr lang="en-IN"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6.1 Format specifiers</a:t>
            </a:r>
            <a:endParaRPr lang="en-IN" sz="13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F2E3AA5F-A586-690A-87EE-9600C3009596}"/>
              </a:ext>
            </a:extLst>
          </p:cNvPr>
          <p:cNvGraphicFramePr>
            <a:graphicFrameLocks noGrp="1"/>
          </p:cNvGraphicFramePr>
          <p:nvPr>
            <p:extLst>
              <p:ext uri="{D42A27DB-BD31-4B8C-83A1-F6EECF244321}">
                <p14:modId xmlns:p14="http://schemas.microsoft.com/office/powerpoint/2010/main" val="1606341357"/>
              </p:ext>
            </p:extLst>
          </p:nvPr>
        </p:nvGraphicFramePr>
        <p:xfrm>
          <a:off x="471488" y="2518264"/>
          <a:ext cx="5915024" cy="5764725"/>
        </p:xfrm>
        <a:graphic>
          <a:graphicData uri="http://schemas.openxmlformats.org/drawingml/2006/table">
            <a:tbl>
              <a:tblPr firstRow="1" firstCol="1" bandRow="1">
                <a:tableStyleId>{5940675A-B579-460E-94D1-54222C63F5DA}</a:tableStyleId>
              </a:tblPr>
              <a:tblGrid>
                <a:gridCol w="1478756">
                  <a:extLst>
                    <a:ext uri="{9D8B030D-6E8A-4147-A177-3AD203B41FA5}">
                      <a16:colId xmlns:a16="http://schemas.microsoft.com/office/drawing/2014/main" val="3467120660"/>
                    </a:ext>
                  </a:extLst>
                </a:gridCol>
                <a:gridCol w="1478756">
                  <a:extLst>
                    <a:ext uri="{9D8B030D-6E8A-4147-A177-3AD203B41FA5}">
                      <a16:colId xmlns:a16="http://schemas.microsoft.com/office/drawing/2014/main" val="776767605"/>
                    </a:ext>
                  </a:extLst>
                </a:gridCol>
                <a:gridCol w="1478756">
                  <a:extLst>
                    <a:ext uri="{9D8B030D-6E8A-4147-A177-3AD203B41FA5}">
                      <a16:colId xmlns:a16="http://schemas.microsoft.com/office/drawing/2014/main" val="2227421957"/>
                    </a:ext>
                  </a:extLst>
                </a:gridCol>
                <a:gridCol w="1478756">
                  <a:extLst>
                    <a:ext uri="{9D8B030D-6E8A-4147-A177-3AD203B41FA5}">
                      <a16:colId xmlns:a16="http://schemas.microsoft.com/office/drawing/2014/main" val="1112536892"/>
                    </a:ext>
                  </a:extLst>
                </a:gridCol>
              </a:tblGrid>
              <a:tr h="136029">
                <a:tc>
                  <a:txBody>
                    <a:bodyPr/>
                    <a:lstStyle/>
                    <a:p>
                      <a:pPr marL="0" marR="0">
                        <a:lnSpc>
                          <a:spcPct val="115000"/>
                        </a:lnSpc>
                        <a:spcAft>
                          <a:spcPts val="500"/>
                        </a:spcAft>
                        <a:buNone/>
                      </a:pPr>
                      <a:r>
                        <a:rPr lang="en-US" sz="1400">
                          <a:effectLst/>
                        </a:rPr>
                        <a:t>Type / value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printf specifier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scanf specifier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Note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755175931"/>
                  </a:ext>
                </a:extLst>
              </a:tr>
              <a:tr h="283905">
                <a:tc>
                  <a:txBody>
                    <a:bodyPr/>
                    <a:lstStyle/>
                    <a:p>
                      <a:pPr marL="0" marR="0">
                        <a:lnSpc>
                          <a:spcPct val="115000"/>
                        </a:lnSpc>
                        <a:spcAft>
                          <a:spcPts val="500"/>
                        </a:spcAft>
                        <a:buNone/>
                      </a:pPr>
                      <a:r>
                        <a:rPr lang="en-US" sz="1400">
                          <a:effectLst/>
                        </a:rPr>
                        <a:t>int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Use for ordinary signed integers.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437353257"/>
                  </a:ext>
                </a:extLst>
              </a:tr>
              <a:tr h="136029">
                <a:tc>
                  <a:txBody>
                    <a:bodyPr/>
                    <a:lstStyle/>
                    <a:p>
                      <a:pPr marL="0" marR="0">
                        <a:lnSpc>
                          <a:spcPct val="115000"/>
                        </a:lnSpc>
                        <a:spcAft>
                          <a:spcPts val="500"/>
                        </a:spcAft>
                        <a:buNone/>
                      </a:pPr>
                      <a:r>
                        <a:rPr lang="en-US" sz="1400">
                          <a:effectLst/>
                        </a:rPr>
                        <a:t>unsigned int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%u</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%u</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Non-negative integer.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825941041"/>
                  </a:ext>
                </a:extLst>
              </a:tr>
              <a:tr h="283905">
                <a:tc>
                  <a:txBody>
                    <a:bodyPr/>
                    <a:lstStyle/>
                    <a:p>
                      <a:pPr marL="0" marR="0">
                        <a:lnSpc>
                          <a:spcPct val="115000"/>
                        </a:lnSpc>
                        <a:spcAft>
                          <a:spcPts val="500"/>
                        </a:spcAft>
                        <a:buNone/>
                      </a:pPr>
                      <a:r>
                        <a:rPr lang="en-US" sz="1400">
                          <a:effectLst/>
                        </a:rPr>
                        <a:t>long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Specifier must match the argument type.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706757976"/>
                  </a:ext>
                </a:extLst>
              </a:tr>
              <a:tr h="136029">
                <a:tc>
                  <a:txBody>
                    <a:bodyPr/>
                    <a:lstStyle/>
                    <a:p>
                      <a:pPr marL="0" marR="0">
                        <a:lnSpc>
                          <a:spcPct val="115000"/>
                        </a:lnSpc>
                        <a:spcAft>
                          <a:spcPts val="500"/>
                        </a:spcAft>
                        <a:buNone/>
                      </a:pPr>
                      <a:r>
                        <a:rPr lang="en-US" sz="1400">
                          <a:effectLst/>
                        </a:rPr>
                        <a:t>long long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%lld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%lld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Suitable for wide totals.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25962026"/>
                  </a:ext>
                </a:extLst>
              </a:tr>
              <a:tr h="283905">
                <a:tc>
                  <a:txBody>
                    <a:bodyPr/>
                    <a:lstStyle/>
                    <a:p>
                      <a:pPr marL="0" marR="0">
                        <a:lnSpc>
                          <a:spcPct val="115000"/>
                        </a:lnSpc>
                        <a:spcAft>
                          <a:spcPts val="500"/>
                        </a:spcAft>
                        <a:buNone/>
                      </a:pPr>
                      <a:r>
                        <a:rPr lang="en-US" sz="1400" dirty="0">
                          <a:effectLst/>
                        </a:rPr>
                        <a:t>float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%f</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%f</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In printf, float is promoted to double; %f is used.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115484029"/>
                  </a:ext>
                </a:extLst>
              </a:tr>
              <a:tr h="136029">
                <a:tc>
                  <a:txBody>
                    <a:bodyPr/>
                    <a:lstStyle/>
                    <a:p>
                      <a:pPr marL="0" marR="0">
                        <a:lnSpc>
                          <a:spcPct val="115000"/>
                        </a:lnSpc>
                        <a:spcAft>
                          <a:spcPts val="500"/>
                        </a:spcAft>
                        <a:buNone/>
                      </a:pPr>
                      <a:r>
                        <a:rPr lang="en-US" sz="1400">
                          <a:effectLst/>
                        </a:rPr>
                        <a:t>double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%f</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%lf</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For scanf, %lf reads a double.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212800814"/>
                  </a:ext>
                </a:extLst>
              </a:tr>
              <a:tr h="431781">
                <a:tc>
                  <a:txBody>
                    <a:bodyPr/>
                    <a:lstStyle/>
                    <a:p>
                      <a:pPr marL="0" marR="0">
                        <a:lnSpc>
                          <a:spcPct val="115000"/>
                        </a:lnSpc>
                        <a:spcAft>
                          <a:spcPts val="500"/>
                        </a:spcAft>
                        <a:buNone/>
                      </a:pPr>
                      <a:r>
                        <a:rPr lang="en-US" sz="1400">
                          <a:effectLst/>
                        </a:rPr>
                        <a:t>char</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%c</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%c</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Whitespace may need to be skipped with a leading space: " %c".</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602400159"/>
                  </a:ext>
                </a:extLst>
              </a:tr>
              <a:tr h="283905">
                <a:tc>
                  <a:txBody>
                    <a:bodyPr/>
                    <a:lstStyle/>
                    <a:p>
                      <a:pPr marL="0" marR="0">
                        <a:lnSpc>
                          <a:spcPct val="115000"/>
                        </a:lnSpc>
                        <a:spcAft>
                          <a:spcPts val="500"/>
                        </a:spcAft>
                        <a:buNone/>
                      </a:pPr>
                      <a:r>
                        <a:rPr lang="en-US" sz="1400">
                          <a:effectLst/>
                        </a:rPr>
                        <a:t>string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Use a width limit or prefer </a:t>
                      </a:r>
                      <a:r>
                        <a:rPr lang="en-US" sz="1400" dirty="0" err="1">
                          <a:effectLst/>
                        </a:rPr>
                        <a:t>fgets</a:t>
                      </a:r>
                      <a:r>
                        <a:rPr lang="en-US" sz="1400" dirty="0">
                          <a:effectLst/>
                        </a:rPr>
                        <a:t> for lines.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744435528"/>
                  </a:ext>
                </a:extLst>
              </a:tr>
            </a:tbl>
          </a:graphicData>
        </a:graphic>
      </p:graphicFrame>
    </p:spTree>
    <p:extLst>
      <p:ext uri="{BB962C8B-B14F-4D97-AF65-F5344CB8AC3E}">
        <p14:creationId xmlns:p14="http://schemas.microsoft.com/office/powerpoint/2010/main" val="7983257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24983-0EBB-F227-5B7E-3067A00A0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5E1C4-3633-87AC-33AA-521F1124D5C1}"/>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DE66332D-85DC-4608-752D-30309CAECF6D}"/>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2D6E4C2A-4E5A-74C2-0B23-E6A1B12694C0}"/>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393BFF4B-73FB-3621-4B6F-6D26307C34A2}"/>
              </a:ext>
            </a:extLst>
          </p:cNvPr>
          <p:cNvSpPr txBox="1"/>
          <p:nvPr/>
        </p:nvSpPr>
        <p:spPr>
          <a:xfrm>
            <a:off x="514350" y="769738"/>
            <a:ext cx="5829300" cy="8427948"/>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6.2 Validate </a:t>
            </a:r>
            <a:r>
              <a:rPr lang="en-US" sz="1800" b="1" dirty="0" err="1">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scanf</a:t>
            </a: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 return values: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previous,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("Enter previous and current readings: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scanf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 %d", &amp;previous, &amp;current) != 2)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(stderr, "Invalid input: enter two integers.\n");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(previous &lt; 0 || previous &gt; 65535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current &lt; 0 || current &gt; 65535)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(stderr, "Readings must be between 0 and 65535.\n");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("Readings accepted: %d and %d\n", previous,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070531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80005-A556-CB40-FF2C-59BC58F7D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B7DE1-5A60-D6F3-6C03-D1BC26DE0A0C}"/>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9D4471C-7035-6E00-429A-B56043F0E8AF}"/>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08A35711-4B7A-5DFC-0245-5B12DFBDCB15}"/>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4C0608FF-8687-26B4-279C-91B9E8374E36}"/>
              </a:ext>
            </a:extLst>
          </p:cNvPr>
          <p:cNvSpPr txBox="1"/>
          <p:nvPr/>
        </p:nvSpPr>
        <p:spPr>
          <a:xfrm>
            <a:off x="514350" y="571179"/>
            <a:ext cx="5829300" cy="2095445"/>
          </a:xfrm>
          <a:prstGeom prst="rect">
            <a:avLst/>
          </a:prstGeom>
          <a:noFill/>
        </p:spPr>
        <p:txBody>
          <a:bodyPr wrap="square">
            <a:spAutoFit/>
          </a:bodyPr>
          <a:lstStyle/>
          <a:p>
            <a:pPr marL="0" marR="0">
              <a:lnSpc>
                <a:spcPct val="100000"/>
              </a:lnSpc>
              <a:spcAft>
                <a:spcPts val="500"/>
              </a:spcAft>
              <a:buNone/>
            </a:pP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scanf</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returns the number of successfully assigned input items. If the user enters letters instead of numbers, the return value will be less than the expected count and the program should reject the input. Using a wrong format specifier, such as %d for a long argument in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causes undefined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behaviour</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the output cannot be relied on</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6B4E6DB-764F-6F7E-8CD6-3C2D80E3B899}"/>
              </a:ext>
            </a:extLst>
          </p:cNvPr>
          <p:cNvSpPr txBox="1"/>
          <p:nvPr/>
        </p:nvSpPr>
        <p:spPr>
          <a:xfrm>
            <a:off x="514349" y="3143658"/>
            <a:ext cx="5972175" cy="5273238"/>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6.3 Print rupees and paise: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16250;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("Rs %lld.%02lld\n", paise / 100, paise %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Output: Rs 162.50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6.4 </a:t>
            </a:r>
            <a:r>
              <a:rPr lang="en-US" sz="1800" b="1" dirty="0" err="1">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fgets</a:t>
            </a: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 plus conversion alternative: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stdlib.h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errno.h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limits.h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parse_reading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(const char *line, long *value)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54845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6DA6-E86A-3AEE-2CBE-EFE7B0046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343A5-85F2-543E-F8E9-83F57F2EA1C4}"/>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742DA5D7-AD3B-C581-25E0-D5DDFA488588}"/>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9FD4761B-C64A-75F7-235D-6E42777018DB}"/>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A394283A-D19F-69AA-F988-E34B0777521F}"/>
              </a:ext>
            </a:extLst>
          </p:cNvPr>
          <p:cNvSpPr txBox="1"/>
          <p:nvPr/>
        </p:nvSpPr>
        <p:spPr>
          <a:xfrm>
            <a:off x="685800" y="779707"/>
            <a:ext cx="5657850" cy="4972973"/>
          </a:xfrm>
          <a:prstGeom prst="rect">
            <a:avLst/>
          </a:prstGeom>
          <a:noFill/>
        </p:spPr>
        <p:txBody>
          <a:bodyPr wrap="square">
            <a:spAutoFit/>
          </a:bodyPr>
          <a:lstStyle/>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char *end;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errno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v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strtol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(line, &amp;end, 10);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(line == end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errno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ERANGE || v &lt; 0 || v &gt; 65535)</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while (*end == ' ' || *end == '\\t' || *end == '\\r' || *end == '\\n')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end++;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(*end !=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*value = v;</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dirty="0"/>
          </a:p>
        </p:txBody>
      </p:sp>
      <p:sp>
        <p:nvSpPr>
          <p:cNvPr id="10" name="TextBox 9">
            <a:extLst>
              <a:ext uri="{FF2B5EF4-FFF2-40B4-BE49-F238E27FC236}">
                <a16:creationId xmlns:a16="http://schemas.microsoft.com/office/drawing/2014/main" id="{91B0F52D-AC71-DEBC-3C83-ECC23B5764E5}"/>
              </a:ext>
            </a:extLst>
          </p:cNvPr>
          <p:cNvSpPr txBox="1"/>
          <p:nvPr/>
        </p:nvSpPr>
        <p:spPr>
          <a:xfrm>
            <a:off x="514349" y="5916307"/>
            <a:ext cx="5929313" cy="1754326"/>
          </a:xfrm>
          <a:prstGeom prst="rect">
            <a:avLst/>
          </a:prstGeom>
          <a:noFill/>
        </p:spPr>
        <p:txBody>
          <a:bodyPr wrap="square">
            <a:spAutoFit/>
          </a:bodyPr>
          <a:lstStyle/>
          <a:p>
            <a:pPr marL="0" marR="0">
              <a:lnSpc>
                <a:spcPct val="100000"/>
              </a:lnSpc>
              <a:spcAft>
                <a:spcPts val="500"/>
              </a:spcAft>
              <a:buNone/>
            </a:pP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fgets</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reads a whole line into a fixed-size buffer, after which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strtol</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can validate conversion and range. Processing a line of length L is O(L), and buffer space is O(L) up to the chosen maximum line length.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scanf</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can be concise, but line-based input is often easier to recover from because the whole invalid line can be discarded before the next attempt.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12" name="TextBox 11">
            <a:extLst>
              <a:ext uri="{FF2B5EF4-FFF2-40B4-BE49-F238E27FC236}">
                <a16:creationId xmlns:a16="http://schemas.microsoft.com/office/drawing/2014/main" id="{6E330550-F4BB-2ED9-3296-5394959E8A94}"/>
              </a:ext>
            </a:extLst>
          </p:cNvPr>
          <p:cNvSpPr txBox="1"/>
          <p:nvPr/>
        </p:nvSpPr>
        <p:spPr>
          <a:xfrm>
            <a:off x="0" y="1353761"/>
            <a:ext cx="6093839" cy="720262"/>
          </a:xfrm>
          <a:prstGeom prst="rect">
            <a:avLst/>
          </a:prstGeom>
          <a:noFill/>
        </p:spPr>
        <p:txBody>
          <a:bodyPr wrap="square">
            <a:spAutoFit/>
          </a:bodyPr>
          <a:lstStyle/>
          <a:p>
            <a:pPr marL="0" marR="0">
              <a:lnSpc>
                <a:spcPct val="115000"/>
              </a:lnSpc>
              <a:spcBef>
                <a:spcPts val="2400"/>
              </a:spcBef>
              <a:buNone/>
            </a:pPr>
            <a:r>
              <a:rPr lang="en-US" sz="1600" b="1" kern="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TASK 7 – Control Type Conversion and Precision</a:t>
            </a:r>
            <a:endParaRPr lang="en-IN" sz="1600" b="1" kern="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a:p>
            <a:pPr marL="0" marR="0">
              <a:lnSpc>
                <a:spcPct val="115000"/>
              </a:lnSpc>
              <a:spcBef>
                <a:spcPts val="1000"/>
              </a:spcBef>
              <a:buNone/>
            </a:pPr>
            <a:r>
              <a:rPr lang="en-US" sz="1300" b="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7.1 Where conversions happen</a:t>
            </a:r>
            <a:endParaRPr lang="en-IN" sz="1300" b="1">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spTree>
    <p:extLst>
      <p:ext uri="{BB962C8B-B14F-4D97-AF65-F5344CB8AC3E}">
        <p14:creationId xmlns:p14="http://schemas.microsoft.com/office/powerpoint/2010/main" val="185064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28994-DEB4-16A1-D7C8-DB415823B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94EAD-FEFE-8B6E-FB5F-61929750EF87}"/>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C6BE1375-B3D3-BF41-21A8-6EAA4DC63A29}"/>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2F087898-CF09-AE23-A21A-E709BFC368E7}"/>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07544690-95BB-BD6F-EB17-EC320FCA138E}"/>
              </a:ext>
            </a:extLst>
          </p:cNvPr>
          <p:cNvSpPr txBox="1"/>
          <p:nvPr/>
        </p:nvSpPr>
        <p:spPr>
          <a:xfrm>
            <a:off x="457197" y="848460"/>
            <a:ext cx="5186363" cy="1359346"/>
          </a:xfrm>
          <a:prstGeom prst="rect">
            <a:avLst/>
          </a:prstGeom>
          <a:noFill/>
        </p:spPr>
        <p:txBody>
          <a:bodyPr wrap="square">
            <a:spAutoFit/>
          </a:bodyPr>
          <a:lstStyle/>
          <a:p>
            <a:pPr marL="0" marR="0">
              <a:lnSpc>
                <a:spcPct val="100000"/>
              </a:lnSpc>
              <a:spcBef>
                <a:spcPts val="2400"/>
              </a:spcBef>
              <a:buNone/>
            </a:pPr>
            <a:r>
              <a:rPr lang="en-US" sz="18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7 – Control Type Conversion and Precision:</a:t>
            </a:r>
          </a:p>
          <a:p>
            <a:pPr marL="0" marR="0">
              <a:lnSpc>
                <a:spcPct val="100000"/>
              </a:lnSpc>
              <a:spcBef>
                <a:spcPts val="2400"/>
              </a:spcBef>
              <a:buNone/>
            </a:pPr>
            <a:endParaRPr lang="en-IN" sz="18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7.1 Where conversions happen:</a:t>
            </a:r>
            <a:endParaRPr lang="en-IN" sz="13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4307FE68-A260-E78D-602A-A021AFFC8575}"/>
              </a:ext>
            </a:extLst>
          </p:cNvPr>
          <p:cNvSpPr txBox="1"/>
          <p:nvPr/>
        </p:nvSpPr>
        <p:spPr>
          <a:xfrm>
            <a:off x="628647" y="2545432"/>
            <a:ext cx="5543553" cy="4626908"/>
          </a:xfrm>
          <a:prstGeom prst="rect">
            <a:avLst/>
          </a:prstGeom>
          <a:noFill/>
        </p:spPr>
        <p:txBody>
          <a:bodyPr wrap="square">
            <a:spAutoFit/>
          </a:bodyPr>
          <a:lstStyle/>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When short or unsigned short operands are used in arithmetic, integer promotions usually convert them to int if int can represent every value of the original type.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usual arithmetic conversions decide the common type when different numeric types are combined.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Integer division discards the fractional part when both operands are integers.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An explicit cast can force conversion, but casting a value outside the destination type's range may lose information; converting an out-of-range signed integer to a smaller signed type is implementation-defined or may raise an implementation-defined signal.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When converting fractional charges to paise, choose a documented rule, such as rounding to the nearest paise, and apply it once at the defined billing boundary.</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241356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3922-F655-B1AC-A221-177276615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491EC-0900-DE04-6702-2E0DDF3A470A}"/>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6CA2EEA6-F71F-9F88-8323-9A346A786803}"/>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805B5C98-2C15-A373-57BF-CF48C007CE9A}"/>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1BB1D138-E006-7BD4-721E-56646A31E7BC}"/>
              </a:ext>
            </a:extLst>
          </p:cNvPr>
          <p:cNvGraphicFramePr>
            <a:graphicFrameLocks noGrp="1"/>
          </p:cNvGraphicFramePr>
          <p:nvPr>
            <p:extLst>
              <p:ext uri="{D42A27DB-BD31-4B8C-83A1-F6EECF244321}">
                <p14:modId xmlns:p14="http://schemas.microsoft.com/office/powerpoint/2010/main" val="3504767201"/>
              </p:ext>
            </p:extLst>
          </p:nvPr>
        </p:nvGraphicFramePr>
        <p:xfrm>
          <a:off x="428625" y="2406545"/>
          <a:ext cx="5915025" cy="4593021"/>
        </p:xfrm>
        <a:graphic>
          <a:graphicData uri="http://schemas.openxmlformats.org/drawingml/2006/table">
            <a:tbl>
              <a:tblPr firstRow="1" firstCol="1" bandRow="1">
                <a:tableStyleId>{5940675A-B579-460E-94D1-54222C63F5DA}</a:tableStyleId>
              </a:tblPr>
              <a:tblGrid>
                <a:gridCol w="1971675">
                  <a:extLst>
                    <a:ext uri="{9D8B030D-6E8A-4147-A177-3AD203B41FA5}">
                      <a16:colId xmlns:a16="http://schemas.microsoft.com/office/drawing/2014/main" val="851469977"/>
                    </a:ext>
                  </a:extLst>
                </a:gridCol>
                <a:gridCol w="1971675">
                  <a:extLst>
                    <a:ext uri="{9D8B030D-6E8A-4147-A177-3AD203B41FA5}">
                      <a16:colId xmlns:a16="http://schemas.microsoft.com/office/drawing/2014/main" val="2108272472"/>
                    </a:ext>
                  </a:extLst>
                </a:gridCol>
                <a:gridCol w="1971675">
                  <a:extLst>
                    <a:ext uri="{9D8B030D-6E8A-4147-A177-3AD203B41FA5}">
                      <a16:colId xmlns:a16="http://schemas.microsoft.com/office/drawing/2014/main" val="523941898"/>
                    </a:ext>
                  </a:extLst>
                </a:gridCol>
              </a:tblGrid>
              <a:tr h="136029">
                <a:tc>
                  <a:txBody>
                    <a:bodyPr/>
                    <a:lstStyle/>
                    <a:p>
                      <a:pPr marL="0" marR="0">
                        <a:lnSpc>
                          <a:spcPct val="115000"/>
                        </a:lnSpc>
                        <a:spcAft>
                          <a:spcPts val="500"/>
                        </a:spcAft>
                        <a:buNone/>
                      </a:pPr>
                      <a:r>
                        <a:rPr lang="en-US" sz="1400">
                          <a:effectLst/>
                        </a:rPr>
                        <a:t>Expression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Result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Explanation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431391987"/>
                  </a:ext>
                </a:extLst>
              </a:tr>
              <a:tr h="376435">
                <a:tc>
                  <a:txBody>
                    <a:bodyPr/>
                    <a:lstStyle/>
                    <a:p>
                      <a:pPr marL="0" marR="0">
                        <a:lnSpc>
                          <a:spcPct val="115000"/>
                        </a:lnSpc>
                        <a:spcAft>
                          <a:spcPts val="500"/>
                        </a:spcAft>
                        <a:buNone/>
                      </a:pPr>
                      <a:r>
                        <a:rPr lang="en-US" sz="1400">
                          <a:effectLst/>
                        </a:rPr>
                        <a:t>5 / 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2</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Both operands are integers, so the fractional part is discarded.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505858590"/>
                  </a:ext>
                </a:extLst>
              </a:tr>
              <a:tr h="431781">
                <a:tc>
                  <a:txBody>
                    <a:bodyPr/>
                    <a:lstStyle/>
                    <a:p>
                      <a:pPr marL="0" marR="0">
                        <a:lnSpc>
                          <a:spcPct val="115000"/>
                        </a:lnSpc>
                        <a:spcAft>
                          <a:spcPts val="500"/>
                        </a:spcAft>
                        <a:buNone/>
                      </a:pPr>
                      <a:r>
                        <a:rPr lang="en-US" sz="1400">
                          <a:effectLst/>
                        </a:rPr>
                        <a:t>(double)(5 / 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2.0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The division happens first as integer division; casting afterwards cannot recover the .5.</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298817756"/>
                  </a:ext>
                </a:extLst>
              </a:tr>
              <a:tr h="425029">
                <a:tc>
                  <a:txBody>
                    <a:bodyPr/>
                    <a:lstStyle/>
                    <a:p>
                      <a:pPr marL="0" marR="0">
                        <a:lnSpc>
                          <a:spcPct val="115000"/>
                        </a:lnSpc>
                        <a:spcAft>
                          <a:spcPts val="500"/>
                        </a:spcAft>
                        <a:buNone/>
                      </a:pPr>
                      <a:r>
                        <a:rPr lang="en-US" sz="1400">
                          <a:effectLst/>
                        </a:rPr>
                        <a:t>(double)5 / 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2.5</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One operand is converted before division, so floating-point division is used.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176087475"/>
                  </a:ext>
                </a:extLst>
              </a:tr>
              <a:tr h="579656">
                <a:tc>
                  <a:txBody>
                    <a:bodyPr/>
                    <a:lstStyle/>
                    <a:p>
                      <a:pPr marL="0" marR="0">
                        <a:lnSpc>
                          <a:spcPct val="115000"/>
                        </a:lnSpc>
                        <a:spcAft>
                          <a:spcPts val="500"/>
                        </a:spcAft>
                        <a:buNone/>
                      </a:pPr>
                      <a:r>
                        <a:rPr lang="en-US" sz="1400">
                          <a:effectLst/>
                        </a:rPr>
                        <a:t>0.1 + 0.2 == 0.3</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Often false in binary floating point</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The decimal fractions are not represented exactly in binary; compare with a tolerance when floating point is appropriate.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040701446"/>
                  </a:ext>
                </a:extLst>
              </a:tr>
            </a:tbl>
          </a:graphicData>
        </a:graphic>
      </p:graphicFrame>
      <p:sp>
        <p:nvSpPr>
          <p:cNvPr id="9" name="TextBox 8">
            <a:extLst>
              <a:ext uri="{FF2B5EF4-FFF2-40B4-BE49-F238E27FC236}">
                <a16:creationId xmlns:a16="http://schemas.microsoft.com/office/drawing/2014/main" id="{6084C0EE-53FF-F6F6-CBFB-5F5571950B4B}"/>
              </a:ext>
            </a:extLst>
          </p:cNvPr>
          <p:cNvSpPr txBox="1"/>
          <p:nvPr/>
        </p:nvSpPr>
        <p:spPr>
          <a:xfrm>
            <a:off x="300036" y="1271696"/>
            <a:ext cx="4371976" cy="646331"/>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7.2 Three expressions that can surprise:</a:t>
            </a: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397027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7E8AA-7AA0-E888-7BAF-7D005BD999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9F875-B3E2-B507-C6C6-3DBA7E15AB81}"/>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9F72026E-2192-0B9B-4F2E-A9202467D44F}"/>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195FF354-8D79-3BA7-3803-7AC69261F240}"/>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3BF07C8B-130A-FABC-0726-FCC3CE7873F1}"/>
              </a:ext>
            </a:extLst>
          </p:cNvPr>
          <p:cNvSpPr txBox="1"/>
          <p:nvPr/>
        </p:nvSpPr>
        <p:spPr>
          <a:xfrm>
            <a:off x="514349" y="4692972"/>
            <a:ext cx="5800725" cy="4439677"/>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7.4 Float totals versus integer paise: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If all calculations were performed in float rupees and rounded only at the end, each charge would be subject to binary representation error and the running total would have limited precision. A float typically has about 6–7 decimal digits of precision. At large aggregate values, its spacing between representable numbers becomes much larger than one paisa, so a total can lose small increments.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Integer paise preserves exact cents as long as arithmetic does not overflow. For both approaches, adding n bills takes O(n) time overall and O(1) extra space for a running total. A float value commonly occupies 4 bytes; a long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commonly occupies 8 bytes. The integer approach is recommended for billing.</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338C89F5-3BCC-B962-B53E-35B355ECB725}"/>
              </a:ext>
            </a:extLst>
          </p:cNvPr>
          <p:cNvSpPr txBox="1"/>
          <p:nvPr/>
        </p:nvSpPr>
        <p:spPr>
          <a:xfrm>
            <a:off x="514350" y="739595"/>
            <a:ext cx="5800725" cy="3524042"/>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7.3 Example of a narrow cast:</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total_paise</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76000000000LL;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narrowed = (int)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total_paise</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value is outside 32-bit int range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("%d\n", narrowed);        /* do not rely on a particular result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The example demonstrates why district totals must not be narrowed to int. Use a wide type for the total and match format specifiers to the exact type.</a:t>
            </a:r>
            <a:endParaRPr lang="en-IN" sz="2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772504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B9D2E-450D-B6F2-A9F3-6D3572360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04930-15ED-EFE3-914B-DCBF1206BFA0}"/>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3FBA74FA-28C5-1FA3-6D30-CD6E513C39EF}"/>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B638A12E-3BEC-C31F-DF85-4D63B3BABA8E}"/>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F8E7D692-99CF-8F94-8842-37FA7F1E8300}"/>
              </a:ext>
            </a:extLst>
          </p:cNvPr>
          <p:cNvSpPr txBox="1"/>
          <p:nvPr/>
        </p:nvSpPr>
        <p:spPr>
          <a:xfrm>
            <a:off x="514350" y="873867"/>
            <a:ext cx="5829300" cy="7155805"/>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8 – Trace the Compilation Process:</a:t>
            </a:r>
          </a:p>
          <a:p>
            <a:pPr marL="0" marR="0">
              <a:lnSpc>
                <a:spcPct val="100000"/>
              </a:lnSpc>
              <a:spcBef>
                <a:spcPts val="2400"/>
              </a:spcBef>
              <a:buNone/>
            </a:pPr>
            <a:endParaRPr lang="en-IN"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8.1 GCC stages and outputs: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Preprocess: expand macros and include header contents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-E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main.i</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Compile to assembly</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Compile to object file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main.o</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Link source files into an executable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tariff.c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billing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Enable useful warnings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-Wall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Wpedantic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-std=c11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tariff.c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billing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958777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58CFA-4A20-7140-7FAB-F9F4C67C6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7E7E6-84D5-F653-051C-950DDD0FB4E4}"/>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3A8DBCAD-0B7E-0EDA-7472-F334BEAC2E1C}"/>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59E1A113-AF0C-3FBB-18A7-53EA3B20ABD1}"/>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9D2163D9-36BC-0D4F-971B-38938DBD42C5}"/>
              </a:ext>
            </a:extLst>
          </p:cNvPr>
          <p:cNvGraphicFramePr>
            <a:graphicFrameLocks noGrp="1"/>
          </p:cNvGraphicFramePr>
          <p:nvPr>
            <p:extLst>
              <p:ext uri="{D42A27DB-BD31-4B8C-83A1-F6EECF244321}">
                <p14:modId xmlns:p14="http://schemas.microsoft.com/office/powerpoint/2010/main" val="1883493410"/>
              </p:ext>
            </p:extLst>
          </p:nvPr>
        </p:nvGraphicFramePr>
        <p:xfrm>
          <a:off x="471487" y="1241419"/>
          <a:ext cx="5915025" cy="3611565"/>
        </p:xfrm>
        <a:graphic>
          <a:graphicData uri="http://schemas.openxmlformats.org/drawingml/2006/table">
            <a:tbl>
              <a:tblPr firstRow="1" firstCol="1" bandRow="1">
                <a:tableStyleId>{5940675A-B579-460E-94D1-54222C63F5DA}</a:tableStyleId>
              </a:tblPr>
              <a:tblGrid>
                <a:gridCol w="1971675">
                  <a:extLst>
                    <a:ext uri="{9D8B030D-6E8A-4147-A177-3AD203B41FA5}">
                      <a16:colId xmlns:a16="http://schemas.microsoft.com/office/drawing/2014/main" val="1600564221"/>
                    </a:ext>
                  </a:extLst>
                </a:gridCol>
                <a:gridCol w="1971675">
                  <a:extLst>
                    <a:ext uri="{9D8B030D-6E8A-4147-A177-3AD203B41FA5}">
                      <a16:colId xmlns:a16="http://schemas.microsoft.com/office/drawing/2014/main" val="320034593"/>
                    </a:ext>
                  </a:extLst>
                </a:gridCol>
                <a:gridCol w="1971675">
                  <a:extLst>
                    <a:ext uri="{9D8B030D-6E8A-4147-A177-3AD203B41FA5}">
                      <a16:colId xmlns:a16="http://schemas.microsoft.com/office/drawing/2014/main" val="474016992"/>
                    </a:ext>
                  </a:extLst>
                </a:gridCol>
              </a:tblGrid>
              <a:tr h="136029">
                <a:tc>
                  <a:txBody>
                    <a:bodyPr/>
                    <a:lstStyle/>
                    <a:p>
                      <a:pPr marL="0" marR="0">
                        <a:lnSpc>
                          <a:spcPct val="115000"/>
                        </a:lnSpc>
                        <a:spcAft>
                          <a:spcPts val="500"/>
                        </a:spcAft>
                        <a:buNone/>
                      </a:pPr>
                      <a:r>
                        <a:rPr lang="en-US" sz="1400">
                          <a:effectLst/>
                        </a:rPr>
                        <a:t>Stage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Command / output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What happens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144692216"/>
                  </a:ext>
                </a:extLst>
              </a:tr>
              <a:tr h="283905">
                <a:tc>
                  <a:txBody>
                    <a:bodyPr/>
                    <a:lstStyle/>
                    <a:p>
                      <a:pPr marL="0" marR="0">
                        <a:lnSpc>
                          <a:spcPct val="115000"/>
                        </a:lnSpc>
                        <a:spcAft>
                          <a:spcPts val="500"/>
                        </a:spcAft>
                        <a:buNone/>
                      </a:pPr>
                      <a:r>
                        <a:rPr lang="en-US" sz="1400">
                          <a:effectLst/>
                        </a:rPr>
                        <a:t>Preprocessing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gcc -E; .i file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Includes headers, expands macros and processes conditional compilation.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341872637"/>
                  </a:ext>
                </a:extLst>
              </a:tr>
              <a:tr h="283905">
                <a:tc>
                  <a:txBody>
                    <a:bodyPr/>
                    <a:lstStyle/>
                    <a:p>
                      <a:pPr marL="0" marR="0">
                        <a:lnSpc>
                          <a:spcPct val="115000"/>
                        </a:lnSpc>
                        <a:spcAft>
                          <a:spcPts val="500"/>
                        </a:spcAft>
                        <a:buNone/>
                      </a:pPr>
                      <a:r>
                        <a:rPr lang="en-US" sz="1400">
                          <a:effectLst/>
                        </a:rPr>
                        <a:t>Compilation to assembly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err="1">
                          <a:effectLst/>
                        </a:rPr>
                        <a:t>gcc</a:t>
                      </a:r>
                      <a:r>
                        <a:rPr lang="en-US" sz="1400" dirty="0">
                          <a:effectLst/>
                        </a:rPr>
                        <a:t> -S; .s file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Checks and translates C into assembly language.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382252430"/>
                  </a:ext>
                </a:extLst>
              </a:tr>
              <a:tr h="431781">
                <a:tc>
                  <a:txBody>
                    <a:bodyPr/>
                    <a:lstStyle/>
                    <a:p>
                      <a:pPr marL="0" marR="0">
                        <a:lnSpc>
                          <a:spcPct val="115000"/>
                        </a:lnSpc>
                        <a:spcAft>
                          <a:spcPts val="500"/>
                        </a:spcAft>
                        <a:buNone/>
                      </a:pPr>
                      <a:r>
                        <a:rPr lang="en-US" sz="1400">
                          <a:effectLst/>
                        </a:rPr>
                        <a:t>Assembly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gcc -c; .o object file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Creates machine-code object files; external references may remain unresolved.</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042729080"/>
                  </a:ext>
                </a:extLst>
              </a:tr>
              <a:tr h="283905">
                <a:tc>
                  <a:txBody>
                    <a:bodyPr/>
                    <a:lstStyle/>
                    <a:p>
                      <a:pPr marL="0" marR="0">
                        <a:lnSpc>
                          <a:spcPct val="115000"/>
                        </a:lnSpc>
                        <a:spcAft>
                          <a:spcPts val="500"/>
                        </a:spcAft>
                        <a:buNone/>
                      </a:pPr>
                      <a:r>
                        <a:rPr lang="en-US" sz="1400">
                          <a:effectLst/>
                        </a:rPr>
                        <a:t>Linking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gcc main.c tariff.c -o billing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Combines object code and libraries into an executable.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679434968"/>
                  </a:ext>
                </a:extLst>
              </a:tr>
            </a:tbl>
          </a:graphicData>
        </a:graphic>
      </p:graphicFrame>
      <p:sp>
        <p:nvSpPr>
          <p:cNvPr id="7" name="TextBox 6">
            <a:extLst>
              <a:ext uri="{FF2B5EF4-FFF2-40B4-BE49-F238E27FC236}">
                <a16:creationId xmlns:a16="http://schemas.microsoft.com/office/drawing/2014/main" id="{09F8CFA5-6E47-773B-31CC-D341D9EACD27}"/>
              </a:ext>
            </a:extLst>
          </p:cNvPr>
          <p:cNvSpPr txBox="1"/>
          <p:nvPr/>
        </p:nvSpPr>
        <p:spPr>
          <a:xfrm>
            <a:off x="514350" y="5335824"/>
            <a:ext cx="5915025" cy="3595856"/>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8.2 Error categories: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Compile-time error: a syntax error such as a missing semicolon or an undeclared identifier.</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Link-time error: calling a function declared but not defined in any linked source/object file, leading to an undefined reference or unresolved external.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200"/>
              </a:spcAft>
              <a:buFont typeface="Arial" panose="020B0604020202020204" pitchFamily="34" charset="0"/>
              <a:buChar char="•"/>
              <a:tabLst>
                <a:tab pos="228600" algn="l"/>
              </a:tabLs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Run-time error: invalid input, arithmetic overflow in an unchecked calculation, or a program crash while executing. A logical error such as applying the wrong slab may run without crashing but still produce an incorrect bill.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12545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0F866-C04F-049A-1F9E-ECBD05C66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8BFAC-4DD5-C2C4-2478-5556505E9D66}"/>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8FD65979-9D93-FF44-45EC-FC5B13368C43}"/>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7DF4C046-67E0-BA08-5DFC-089372955098}"/>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24100819-890D-DEF0-E8FE-1071865CAF44}"/>
              </a:ext>
            </a:extLst>
          </p:cNvPr>
          <p:cNvSpPr txBox="1"/>
          <p:nvPr/>
        </p:nvSpPr>
        <p:spPr>
          <a:xfrm>
            <a:off x="514350" y="2372115"/>
            <a:ext cx="5829299" cy="4078039"/>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8.3 One file versus multiple files:</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In a single-file program, changing any part normally requires recompiling the entire translation unit. In a multi-file project, only changed source files need to be recompiled, then the object files are linked again. The total object-file space is approximately the sum of the individual object files, plus build metadata. Splitting the program adds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organisation</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and build steps but helps larger projects.</a:t>
            </a:r>
          </a:p>
          <a:p>
            <a:pPr marL="0" marR="0">
              <a:lnSpc>
                <a:spcPct val="100000"/>
              </a:lnSpc>
              <a:spcAft>
                <a:spcPts val="500"/>
              </a:spcAft>
              <a:buNone/>
            </a:pP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-Wall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-std=c11 -c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main.o</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-Wall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-std=c11 -c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tariff.c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tariff.o</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gcc</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main.o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tariff.o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-o billing</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B8212E75-8F71-6763-3158-30A683948147}"/>
              </a:ext>
            </a:extLst>
          </p:cNvPr>
          <p:cNvSpPr txBox="1"/>
          <p:nvPr/>
        </p:nvSpPr>
        <p:spPr>
          <a:xfrm>
            <a:off x="514350" y="888029"/>
            <a:ext cx="5657849" cy="1200329"/>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Warnings from -Wall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Wextra</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effectLst/>
                <a:latin typeface="Times New Roman" panose="02020603050405020304" pitchFamily="18" charset="0"/>
                <a:ea typeface="MS Mincho" panose="02020609040205080304" pitchFamily="49" charset="-128"/>
                <a:cs typeface="Times New Roman" panose="02020603050405020304" pitchFamily="18" charset="0"/>
              </a:rPr>
              <a:t>Wpedantic</a:t>
            </a: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can reveal unused variables, suspicious conversions, format-specifier mismatches, or non-standard code. Resolve warnings rather than suppressing them without understanding the cause.</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67334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3C36D-A792-1C26-11E7-5E5CE7451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E853F-53AB-E777-7C34-83C17879FBDB}"/>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E347D81-FED8-38E7-A103-FD0DE63E3AEA}"/>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F1110BB7-79D6-01CD-8EAA-6467D978F958}"/>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B102F129-57D6-D44F-73D5-D944D01F5AFF}"/>
              </a:ext>
            </a:extLst>
          </p:cNvPr>
          <p:cNvSpPr txBox="1"/>
          <p:nvPr/>
        </p:nvSpPr>
        <p:spPr>
          <a:xfrm>
            <a:off x="514350" y="920428"/>
            <a:ext cx="5829299" cy="7838043"/>
          </a:xfrm>
          <a:prstGeom prst="rect">
            <a:avLst/>
          </a:prstGeom>
          <a:noFill/>
        </p:spPr>
        <p:txBody>
          <a:bodyPr wrap="square">
            <a:spAutoFit/>
          </a:bodyPr>
          <a:lstStyle/>
          <a:p>
            <a:pPr marL="0" marR="0">
              <a:lnSpc>
                <a:spcPct val="100000"/>
              </a:lnSpc>
              <a:spcBef>
                <a:spcPts val="2400"/>
              </a:spcBef>
              <a:buNone/>
            </a:pPr>
            <a:r>
              <a:rPr lang="en-US"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9 – Implement and Test the Billing Program</a:t>
            </a:r>
          </a:p>
          <a:p>
            <a:pPr marL="0" marR="0">
              <a:lnSpc>
                <a:spcPct val="100000"/>
              </a:lnSpc>
              <a:spcBef>
                <a:spcPts val="2400"/>
              </a:spcBef>
              <a:buNone/>
            </a:pPr>
            <a:endParaRPr lang="en-IN" sz="20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9.1 Complete program:</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stdio.h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stdlib.h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#include &lt;</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limits.h</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&gt;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SLAB1_UNITS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SLAB2_UNITS 200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RATE1_PAISE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RATE2_PAISE 225</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RATE3_PAISE 450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#define FIXED_CHARGE_PAISE 5000LL</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typedef unsigned short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static unsigned int consumption(</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previous,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(unsigned short)(current - previous);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243202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3B8A-67D5-7905-382F-E11726DA0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77123-09B2-2CC3-423A-EA8F3C7FB243}"/>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BECA222E-2701-6CF2-AA1A-46F5FE1C8373}"/>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1B19C71D-CBA2-78C4-B740-1E72A92C30D1}"/>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31D30D83-1870-8A8D-F2DB-074E318F33AC}"/>
              </a:ext>
            </a:extLst>
          </p:cNvPr>
          <p:cNvSpPr txBox="1"/>
          <p:nvPr/>
        </p:nvSpPr>
        <p:spPr>
          <a:xfrm>
            <a:off x="357187" y="578974"/>
            <a:ext cx="5986463" cy="8981946"/>
          </a:xfrm>
          <a:prstGeom prst="rect">
            <a:avLst/>
          </a:prstGeom>
          <a:noFill/>
        </p:spPr>
        <p:txBody>
          <a:bodyPr wrap="square">
            <a:spAutoFit/>
          </a:bodyPr>
          <a:lstStyle/>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static 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(unsigned int 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FIXED_CHARGE_PAISE;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(units &gt; SLAB2_UNITS)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(SLAB2_UNITS - SLAB1_UNITS) * RATE2_PAISE;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(long long)(units - SLAB2_UNITS) * RATE3_PAISE;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 else if (units &gt; SLAB1_UNITS)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paise += (long long)(units - SLAB1_UNITS) * RATE2_PAISE;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paise;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int main(void)</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int previous, 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("Enter previous and current meter readings (0-65535):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scanf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("%d %d", &amp;previous, &amp;current) != 2)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(stderr, "Error: enter two integer readings.\n");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957339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A853-A0D6-F444-825B-ADB63775C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FF412-3C87-C219-56B0-50006A50353B}"/>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90EFADC1-BEAD-A378-1843-FEA98B4DFC48}"/>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86655669-CBE7-6D3D-6290-416E913168AE}"/>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A16F4E82-E511-CE5B-44B1-99CD9B93C74A}"/>
              </a:ext>
            </a:extLst>
          </p:cNvPr>
          <p:cNvSpPr txBox="1"/>
          <p:nvPr/>
        </p:nvSpPr>
        <p:spPr>
          <a:xfrm>
            <a:off x="400045" y="745562"/>
            <a:ext cx="5943605" cy="5698996"/>
          </a:xfrm>
          <a:prstGeom prst="rect">
            <a:avLst/>
          </a:prstGeom>
          <a:noFill/>
        </p:spPr>
        <p:txBody>
          <a:bodyPr wrap="square">
            <a:spAutoFit/>
          </a:bodyPr>
          <a:lstStyle/>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if (previous &lt; 0 || previous &gt; USHRT_MAX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current &lt; 0 || current &gt; USHRT_MAX)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fprintf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(stderr, "Error: reading out of range.\n");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1;</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unsigned int units = consumption((</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)previous,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meter_t</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)current);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long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long</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bill =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compute_bill</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("Units consumed: %u\n", units);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("Energy charge and fixed charge included.\n");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printf</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("Total bill: Rs %lld.%02lld\n", bill / 100, bill % 100);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return 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182880" marR="0">
              <a:lnSpc>
                <a:spcPct val="100000"/>
              </a:lnSpc>
              <a:spcAft>
                <a:spcPts val="5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8" name="TextBox 7">
            <a:extLst>
              <a:ext uri="{FF2B5EF4-FFF2-40B4-BE49-F238E27FC236}">
                <a16:creationId xmlns:a16="http://schemas.microsoft.com/office/drawing/2014/main" id="{38B9010D-E058-96C4-8367-FCE015D68877}"/>
              </a:ext>
            </a:extLst>
          </p:cNvPr>
          <p:cNvSpPr txBox="1"/>
          <p:nvPr/>
        </p:nvSpPr>
        <p:spPr>
          <a:xfrm>
            <a:off x="400044" y="6444558"/>
            <a:ext cx="6172205" cy="2095445"/>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This program treats the 16-bit register as a modulo counter. Since two readings alone cannot distinguish rollover from a meter reset or data-entry error, a production system should validate the meter's status and rollover assumptions. The brief explicitly asks for rollover handling, so the code follows that rule.</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40236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46462-A557-1A27-6409-046D7722C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245D4-63E3-21C1-296D-DC4BBD4067FB}"/>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670618BE-F890-61ED-6BCE-4BEC23F3CB89}"/>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EF1BF649-3685-5FE8-8706-3D6E0957FC0E}"/>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TextBox 10">
            <a:extLst>
              <a:ext uri="{FF2B5EF4-FFF2-40B4-BE49-F238E27FC236}">
                <a16:creationId xmlns:a16="http://schemas.microsoft.com/office/drawing/2014/main" id="{3E68128F-EA3B-2D81-E295-B301BEDA3458}"/>
              </a:ext>
            </a:extLst>
          </p:cNvPr>
          <p:cNvSpPr txBox="1"/>
          <p:nvPr/>
        </p:nvSpPr>
        <p:spPr>
          <a:xfrm>
            <a:off x="514350" y="763318"/>
            <a:ext cx="3429000" cy="308867"/>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mn-lt"/>
                <a:ea typeface="MS Gothic" panose="020B0609070205080204" pitchFamily="49" charset="-128"/>
                <a:cs typeface="Times New Roman" panose="02020603050405020304" pitchFamily="18" charset="0"/>
              </a:rPr>
              <a:t>9.2 Test plan and expected results</a:t>
            </a:r>
            <a:endParaRPr lang="en-IN" sz="13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2566E59B-D847-9EE3-ACF7-CCFB819575C8}"/>
              </a:ext>
            </a:extLst>
          </p:cNvPr>
          <p:cNvGraphicFramePr>
            <a:graphicFrameLocks noGrp="1"/>
          </p:cNvGraphicFramePr>
          <p:nvPr>
            <p:extLst>
              <p:ext uri="{D42A27DB-BD31-4B8C-83A1-F6EECF244321}">
                <p14:modId xmlns:p14="http://schemas.microsoft.com/office/powerpoint/2010/main" val="1025913082"/>
              </p:ext>
            </p:extLst>
          </p:nvPr>
        </p:nvGraphicFramePr>
        <p:xfrm>
          <a:off x="514350" y="1782395"/>
          <a:ext cx="5915024" cy="5246439"/>
        </p:xfrm>
        <a:graphic>
          <a:graphicData uri="http://schemas.openxmlformats.org/drawingml/2006/table">
            <a:tbl>
              <a:tblPr firstRow="1" firstCol="1" bandRow="1">
                <a:tableStyleId>{5940675A-B579-460E-94D1-54222C63F5DA}</a:tableStyleId>
              </a:tblPr>
              <a:tblGrid>
                <a:gridCol w="1478756">
                  <a:extLst>
                    <a:ext uri="{9D8B030D-6E8A-4147-A177-3AD203B41FA5}">
                      <a16:colId xmlns:a16="http://schemas.microsoft.com/office/drawing/2014/main" val="197430115"/>
                    </a:ext>
                  </a:extLst>
                </a:gridCol>
                <a:gridCol w="1478756">
                  <a:extLst>
                    <a:ext uri="{9D8B030D-6E8A-4147-A177-3AD203B41FA5}">
                      <a16:colId xmlns:a16="http://schemas.microsoft.com/office/drawing/2014/main" val="3467842342"/>
                    </a:ext>
                  </a:extLst>
                </a:gridCol>
                <a:gridCol w="1478756">
                  <a:extLst>
                    <a:ext uri="{9D8B030D-6E8A-4147-A177-3AD203B41FA5}">
                      <a16:colId xmlns:a16="http://schemas.microsoft.com/office/drawing/2014/main" val="560750185"/>
                    </a:ext>
                  </a:extLst>
                </a:gridCol>
                <a:gridCol w="1478756">
                  <a:extLst>
                    <a:ext uri="{9D8B030D-6E8A-4147-A177-3AD203B41FA5}">
                      <a16:colId xmlns:a16="http://schemas.microsoft.com/office/drawing/2014/main" val="2666943854"/>
                    </a:ext>
                  </a:extLst>
                </a:gridCol>
              </a:tblGrid>
              <a:tr h="136029">
                <a:tc>
                  <a:txBody>
                    <a:bodyPr/>
                    <a:lstStyle/>
                    <a:p>
                      <a:pPr marL="0" marR="0">
                        <a:lnSpc>
                          <a:spcPct val="115000"/>
                        </a:lnSpc>
                        <a:spcAft>
                          <a:spcPts val="500"/>
                        </a:spcAft>
                        <a:buNone/>
                      </a:pPr>
                      <a:r>
                        <a:rPr lang="en-US" sz="1400">
                          <a:effectLst/>
                        </a:rPr>
                        <a:t>Test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Input / condition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Expected result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Status to record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4194036092"/>
                  </a:ext>
                </a:extLst>
              </a:tr>
              <a:tr h="136029">
                <a:tc>
                  <a:txBody>
                    <a:bodyPr/>
                    <a:lstStyle/>
                    <a:p>
                      <a:pPr marL="0" marR="0">
                        <a:lnSpc>
                          <a:spcPct val="115000"/>
                        </a:lnSpc>
                        <a:spcAft>
                          <a:spcPts val="500"/>
                        </a:spcAft>
                        <a:buNone/>
                      </a:pPr>
                      <a:r>
                        <a:rPr lang="en-US" sz="1400">
                          <a:effectLst/>
                        </a:rPr>
                        <a:t>Slab 1 lower boundary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₹50.00 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411038575"/>
                  </a:ext>
                </a:extLst>
              </a:tr>
              <a:tr h="136029">
                <a:tc>
                  <a:txBody>
                    <a:bodyPr/>
                    <a:lstStyle/>
                    <a:p>
                      <a:pPr marL="0" marR="0">
                        <a:lnSpc>
                          <a:spcPct val="115000"/>
                        </a:lnSpc>
                        <a:spcAft>
                          <a:spcPts val="500"/>
                        </a:spcAft>
                        <a:buNone/>
                      </a:pPr>
                      <a:r>
                        <a:rPr lang="en-US" sz="1400">
                          <a:effectLst/>
                        </a:rPr>
                        <a:t>Exactly 100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100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₹50.00 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046187832"/>
                  </a:ext>
                </a:extLst>
              </a:tr>
              <a:tr h="136029">
                <a:tc>
                  <a:txBody>
                    <a:bodyPr/>
                    <a:lstStyle/>
                    <a:p>
                      <a:pPr marL="0" marR="0">
                        <a:lnSpc>
                          <a:spcPct val="115000"/>
                        </a:lnSpc>
                        <a:spcAft>
                          <a:spcPts val="500"/>
                        </a:spcAft>
                        <a:buNone/>
                      </a:pPr>
                      <a:r>
                        <a:rPr lang="en-US" sz="1400">
                          <a:effectLst/>
                        </a:rPr>
                        <a:t>Within slab 2</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150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₹162.50 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1005115870"/>
                  </a:ext>
                </a:extLst>
              </a:tr>
              <a:tr h="136029">
                <a:tc>
                  <a:txBody>
                    <a:bodyPr/>
                    <a:lstStyle/>
                    <a:p>
                      <a:pPr marL="0" marR="0">
                        <a:lnSpc>
                          <a:spcPct val="115000"/>
                        </a:lnSpc>
                        <a:spcAft>
                          <a:spcPts val="500"/>
                        </a:spcAft>
                        <a:buNone/>
                      </a:pPr>
                      <a:r>
                        <a:rPr lang="en-US" sz="1400">
                          <a:effectLst/>
                        </a:rPr>
                        <a:t>Exactly 200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200 units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₹275.00 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284966483"/>
                  </a:ext>
                </a:extLst>
              </a:tr>
              <a:tr h="136029">
                <a:tc>
                  <a:txBody>
                    <a:bodyPr/>
                    <a:lstStyle/>
                    <a:p>
                      <a:pPr marL="0" marR="0">
                        <a:lnSpc>
                          <a:spcPct val="115000"/>
                        </a:lnSpc>
                        <a:spcAft>
                          <a:spcPts val="500"/>
                        </a:spcAft>
                        <a:buNone/>
                      </a:pPr>
                      <a:r>
                        <a:rPr lang="en-US" sz="1400">
                          <a:effectLst/>
                        </a:rPr>
                        <a:t>Above 200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350 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₹950.00 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480238429"/>
                  </a:ext>
                </a:extLst>
              </a:tr>
              <a:tr h="347008">
                <a:tc>
                  <a:txBody>
                    <a:bodyPr/>
                    <a:lstStyle/>
                    <a:p>
                      <a:pPr marL="0" marR="0">
                        <a:lnSpc>
                          <a:spcPct val="115000"/>
                        </a:lnSpc>
                        <a:spcAft>
                          <a:spcPts val="500"/>
                        </a:spcAft>
                        <a:buNone/>
                      </a:pPr>
                      <a:r>
                        <a:rPr lang="en-US" sz="1400" dirty="0">
                          <a:effectLst/>
                        </a:rPr>
                        <a:t>Meter rollover</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previous=65400, current=120</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256 units consumed; bill ₹527.00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520711761"/>
                  </a:ext>
                </a:extLst>
              </a:tr>
              <a:tr h="136029">
                <a:tc>
                  <a:txBody>
                    <a:bodyPr/>
                    <a:lstStyle/>
                    <a:p>
                      <a:pPr marL="0" marR="0">
                        <a:lnSpc>
                          <a:spcPct val="115000"/>
                        </a:lnSpc>
                        <a:spcAft>
                          <a:spcPts val="500"/>
                        </a:spcAft>
                        <a:buNone/>
                      </a:pPr>
                      <a:r>
                        <a:rPr lang="en-US" sz="1400">
                          <a:effectLst/>
                        </a:rPr>
                        <a:t>No consumption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previous=1200, current=1200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0 units; bill ₹50.00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2594498508"/>
                  </a:ext>
                </a:extLst>
              </a:tr>
              <a:tr h="136029">
                <a:tc>
                  <a:txBody>
                    <a:bodyPr/>
                    <a:lstStyle/>
                    <a:p>
                      <a:pPr marL="0" marR="0">
                        <a:lnSpc>
                          <a:spcPct val="115000"/>
                        </a:lnSpc>
                        <a:spcAft>
                          <a:spcPts val="500"/>
                        </a:spcAft>
                        <a:buNone/>
                      </a:pPr>
                      <a:r>
                        <a:rPr lang="en-US" sz="1400">
                          <a:effectLst/>
                        </a:rPr>
                        <a:t>Invalid letters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previous=a, current=120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Reject input; no bill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470899495"/>
                  </a:ext>
                </a:extLst>
              </a:tr>
              <a:tr h="136029">
                <a:tc>
                  <a:txBody>
                    <a:bodyPr/>
                    <a:lstStyle/>
                    <a:p>
                      <a:pPr marL="0" marR="0">
                        <a:lnSpc>
                          <a:spcPct val="115000"/>
                        </a:lnSpc>
                        <a:spcAft>
                          <a:spcPts val="500"/>
                        </a:spcAft>
                        <a:buNone/>
                      </a:pPr>
                      <a:r>
                        <a:rPr lang="en-US" sz="1400">
                          <a:effectLst/>
                        </a:rPr>
                        <a:t>Negative reading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previous=-1, current=120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Reject input; no bill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Run and fill actual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384577604"/>
                  </a:ext>
                </a:extLst>
              </a:tr>
              <a:tr h="136029">
                <a:tc>
                  <a:txBody>
                    <a:bodyPr/>
                    <a:lstStyle/>
                    <a:p>
                      <a:pPr marL="0" marR="0">
                        <a:lnSpc>
                          <a:spcPct val="115000"/>
                        </a:lnSpc>
                        <a:spcAft>
                          <a:spcPts val="500"/>
                        </a:spcAft>
                        <a:buNone/>
                      </a:pPr>
                      <a:r>
                        <a:rPr lang="en-US" sz="1400">
                          <a:effectLst/>
                        </a:rPr>
                        <a:t>Out-of-range reading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previous=100, current=70000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a:effectLst/>
                        </a:rPr>
                        <a:t>Reject input; no bill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tc>
                  <a:txBody>
                    <a:bodyPr/>
                    <a:lstStyle/>
                    <a:p>
                      <a:pPr marL="0" marR="0">
                        <a:lnSpc>
                          <a:spcPct val="115000"/>
                        </a:lnSpc>
                        <a:spcAft>
                          <a:spcPts val="500"/>
                        </a:spcAft>
                        <a:buNone/>
                      </a:pPr>
                      <a:r>
                        <a:rPr lang="en-US" sz="1400" dirty="0">
                          <a:effectLst/>
                        </a:rPr>
                        <a:t>Run and fill actual</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294" marR="64294" marT="0" marB="0" anchor="ctr"/>
                </a:tc>
                <a:extLst>
                  <a:ext uri="{0D108BD9-81ED-4DB2-BD59-A6C34878D82A}">
                    <a16:rowId xmlns:a16="http://schemas.microsoft.com/office/drawing/2014/main" val="3485465022"/>
                  </a:ext>
                </a:extLst>
              </a:tr>
            </a:tbl>
          </a:graphicData>
        </a:graphic>
      </p:graphicFrame>
      <p:sp>
        <p:nvSpPr>
          <p:cNvPr id="14" name="TextBox 13">
            <a:extLst>
              <a:ext uri="{FF2B5EF4-FFF2-40B4-BE49-F238E27FC236}">
                <a16:creationId xmlns:a16="http://schemas.microsoft.com/office/drawing/2014/main" id="{4839CFFC-C5D2-91B8-84CB-DF05B3D1920D}"/>
              </a:ext>
            </a:extLst>
          </p:cNvPr>
          <p:cNvSpPr txBox="1"/>
          <p:nvPr/>
        </p:nvSpPr>
        <p:spPr>
          <a:xfrm>
            <a:off x="421481" y="7396588"/>
            <a:ext cx="6100762" cy="1200329"/>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Rollover bill calculation: 256 units means 100 units free, 100 units × ₹2.25 = ₹225, and 56 units × ₹4.50 = ₹252. Energy charge = ₹477; plus ₹50 fixed charge gives ₹527.00. This corrected calculation should be used in the test table.</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625587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CE96B-79E2-29EC-8F71-3B2626A57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B72A6-3CAD-3CD3-AAC9-DC3D9621CC3C}"/>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4D3264FC-69D8-9658-028A-BA1841CEDCC8}"/>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C52E5D58-CE67-376F-7186-20E8CCF7390E}"/>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9" name="TextBox 8">
            <a:extLst>
              <a:ext uri="{FF2B5EF4-FFF2-40B4-BE49-F238E27FC236}">
                <a16:creationId xmlns:a16="http://schemas.microsoft.com/office/drawing/2014/main" id="{AF5FB7DE-80B8-F466-80E1-B75C4194769A}"/>
              </a:ext>
            </a:extLst>
          </p:cNvPr>
          <p:cNvSpPr txBox="1"/>
          <p:nvPr/>
        </p:nvSpPr>
        <p:spPr>
          <a:xfrm>
            <a:off x="400050" y="763318"/>
            <a:ext cx="3429000" cy="369332"/>
          </a:xfrm>
          <a:prstGeom prst="rect">
            <a:avLst/>
          </a:prstGeom>
          <a:noFill/>
        </p:spPr>
        <p:txBody>
          <a:bodyPr wrap="square">
            <a:spAutoFit/>
          </a:bodyPr>
          <a:lstStyle/>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9.3 Five-bill hand calculation</a:t>
            </a:r>
            <a:endParaRPr lang="en-IN" sz="1300" b="1" dirty="0">
              <a:solidFill>
                <a:srgbClr val="4F81BD"/>
              </a:solidFill>
              <a:effectLst/>
              <a:latin typeface="Times New Roman" panose="02020603050405020304" pitchFamily="18" charset="0"/>
              <a:ea typeface="MS Gothic" panose="020B0609070205080204" pitchFamily="49" charset="-128"/>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C1E73F04-8E26-957A-10D0-D5046ED068A9}"/>
              </a:ext>
            </a:extLst>
          </p:cNvPr>
          <p:cNvGraphicFramePr>
            <a:graphicFrameLocks noGrp="1"/>
          </p:cNvGraphicFramePr>
          <p:nvPr>
            <p:extLst>
              <p:ext uri="{D42A27DB-BD31-4B8C-83A1-F6EECF244321}">
                <p14:modId xmlns:p14="http://schemas.microsoft.com/office/powerpoint/2010/main" val="4139665007"/>
              </p:ext>
            </p:extLst>
          </p:nvPr>
        </p:nvGraphicFramePr>
        <p:xfrm>
          <a:off x="514350" y="1681656"/>
          <a:ext cx="5829300" cy="2381062"/>
        </p:xfrm>
        <a:graphic>
          <a:graphicData uri="http://schemas.openxmlformats.org/drawingml/2006/table">
            <a:tbl>
              <a:tblPr firstRow="1" firstCol="1" bandRow="1">
                <a:tableStyleId>{5940675A-B579-460E-94D1-54222C63F5DA}</a:tableStyleId>
              </a:tblPr>
              <a:tblGrid>
                <a:gridCol w="1165860">
                  <a:extLst>
                    <a:ext uri="{9D8B030D-6E8A-4147-A177-3AD203B41FA5}">
                      <a16:colId xmlns:a16="http://schemas.microsoft.com/office/drawing/2014/main" val="2941845859"/>
                    </a:ext>
                  </a:extLst>
                </a:gridCol>
                <a:gridCol w="1165860">
                  <a:extLst>
                    <a:ext uri="{9D8B030D-6E8A-4147-A177-3AD203B41FA5}">
                      <a16:colId xmlns:a16="http://schemas.microsoft.com/office/drawing/2014/main" val="3237659925"/>
                    </a:ext>
                  </a:extLst>
                </a:gridCol>
                <a:gridCol w="1165860">
                  <a:extLst>
                    <a:ext uri="{9D8B030D-6E8A-4147-A177-3AD203B41FA5}">
                      <a16:colId xmlns:a16="http://schemas.microsoft.com/office/drawing/2014/main" val="1928747029"/>
                    </a:ext>
                  </a:extLst>
                </a:gridCol>
                <a:gridCol w="1165860">
                  <a:extLst>
                    <a:ext uri="{9D8B030D-6E8A-4147-A177-3AD203B41FA5}">
                      <a16:colId xmlns:a16="http://schemas.microsoft.com/office/drawing/2014/main" val="2928561266"/>
                    </a:ext>
                  </a:extLst>
                </a:gridCol>
                <a:gridCol w="1165860">
                  <a:extLst>
                    <a:ext uri="{9D8B030D-6E8A-4147-A177-3AD203B41FA5}">
                      <a16:colId xmlns:a16="http://schemas.microsoft.com/office/drawing/2014/main" val="887661985"/>
                    </a:ext>
                  </a:extLst>
                </a:gridCol>
              </a:tblGrid>
              <a:tr h="341665">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Household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Units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Energy charge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Fixed charge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3821138903"/>
                  </a:ext>
                </a:extLst>
              </a:tr>
              <a:tr h="341665">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A</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1932881856"/>
                  </a:ext>
                </a:extLst>
              </a:tr>
              <a:tr h="341665">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B</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100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dirty="0">
                          <a:effectLst/>
                          <a:latin typeface="Times New Roman" panose="02020603050405020304" pitchFamily="18" charset="0"/>
                          <a:cs typeface="Times New Roman" panose="02020603050405020304" pitchFamily="18" charset="0"/>
                        </a:rPr>
                        <a:t>₹50.00</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4062227508"/>
                  </a:ext>
                </a:extLst>
              </a:tr>
              <a:tr h="341665">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C</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150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₹112.50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₹162.50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3218308465"/>
                  </a:ext>
                </a:extLst>
              </a:tr>
              <a:tr h="331072">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D</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200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₹225.00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₹275.00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3423412922"/>
                  </a:ext>
                </a:extLst>
              </a:tr>
              <a:tr h="341665">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350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₹900.00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₹950.00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2758278305"/>
                  </a:ext>
                </a:extLst>
              </a:tr>
              <a:tr h="341665">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Total</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₹1,237.50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a:effectLst/>
                          <a:latin typeface="Times New Roman" panose="02020603050405020304" pitchFamily="18" charset="0"/>
                          <a:cs typeface="Times New Roman" panose="02020603050405020304" pitchFamily="18" charset="0"/>
                        </a:rPr>
                        <a:t>₹250.00</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tc>
                  <a:txBody>
                    <a:bodyPr/>
                    <a:lstStyle/>
                    <a:p>
                      <a:pPr marL="0" marR="0">
                        <a:lnSpc>
                          <a:spcPct val="115000"/>
                        </a:lnSpc>
                        <a:spcAft>
                          <a:spcPts val="500"/>
                        </a:spcAft>
                        <a:buNone/>
                      </a:pPr>
                      <a:r>
                        <a:rPr lang="en-US" sz="1400" dirty="0">
                          <a:effectLst/>
                          <a:latin typeface="Times New Roman" panose="02020603050405020304" pitchFamily="18" charset="0"/>
                          <a:cs typeface="Times New Roman" panose="02020603050405020304" pitchFamily="18" charset="0"/>
                        </a:rPr>
                        <a:t>₹1,487.50</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4300" marR="64300" marT="0" marB="0" anchor="ctr"/>
                </a:tc>
                <a:extLst>
                  <a:ext uri="{0D108BD9-81ED-4DB2-BD59-A6C34878D82A}">
                    <a16:rowId xmlns:a16="http://schemas.microsoft.com/office/drawing/2014/main" val="1040254949"/>
                  </a:ext>
                </a:extLst>
              </a:tr>
            </a:tbl>
          </a:graphicData>
        </a:graphic>
      </p:graphicFrame>
      <p:sp>
        <p:nvSpPr>
          <p:cNvPr id="12" name="TextBox 11">
            <a:extLst>
              <a:ext uri="{FF2B5EF4-FFF2-40B4-BE49-F238E27FC236}">
                <a16:creationId xmlns:a16="http://schemas.microsoft.com/office/drawing/2014/main" id="{3F53EEB0-D3FA-FBB6-46A3-61E6580DF8D5}"/>
              </a:ext>
            </a:extLst>
          </p:cNvPr>
          <p:cNvSpPr txBox="1"/>
          <p:nvPr/>
        </p:nvSpPr>
        <p:spPr>
          <a:xfrm>
            <a:off x="514349" y="4672365"/>
            <a:ext cx="5829299" cy="2308324"/>
          </a:xfrm>
          <a:prstGeom prst="rect">
            <a:avLst/>
          </a:prstGeom>
          <a:noFill/>
        </p:spPr>
        <p:txBody>
          <a:bodyPr wrap="square">
            <a:spAutoFit/>
          </a:bodyPr>
          <a:lstStyle/>
          <a:p>
            <a:pPr marL="0" marR="0">
              <a:lnSpc>
                <a:spcPct val="100000"/>
              </a:lnSpc>
              <a:spcAft>
                <a:spcPts val="500"/>
              </a:spcAft>
              <a:buNone/>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Array-based slab alternative: store slab limits and rates in arrays, then loop over s slabs. Time per bill becomes O(s), and extra storage is O(s) for the tariff table. This is easier to extend when many slabs exist. A fixed sequence of if statements is simpler and effectively constant time when there are only three slabs. A production design should also reject negative unit counts and validate the meter-reading scenario.</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169498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0091D-BE25-7B75-0706-E73D0BE47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B6045-A815-9081-4DE5-81824A8ACD82}"/>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15EBDE92-864D-A4B2-C654-1E573385B197}"/>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208EA235-DA95-A253-A618-0FE69571FD07}"/>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EB98C001-DDDB-BC84-B0E7-DDCA9D912E67}"/>
              </a:ext>
            </a:extLst>
          </p:cNvPr>
          <p:cNvSpPr txBox="1"/>
          <p:nvPr/>
        </p:nvSpPr>
        <p:spPr>
          <a:xfrm>
            <a:off x="442910" y="716593"/>
            <a:ext cx="5943600" cy="2595582"/>
          </a:xfrm>
          <a:prstGeom prst="rect">
            <a:avLst/>
          </a:prstGeom>
          <a:noFill/>
        </p:spPr>
        <p:txBody>
          <a:bodyPr wrap="square">
            <a:spAutoFit/>
          </a:bodyPr>
          <a:lstStyle/>
          <a:p>
            <a:pPr marL="0" marR="0">
              <a:lnSpc>
                <a:spcPct val="100000"/>
              </a:lnSpc>
              <a:spcBef>
                <a:spcPts val="2400"/>
              </a:spcBef>
              <a:buNone/>
            </a:pPr>
            <a:r>
              <a:rPr lang="en-US" sz="18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TASK 10 – Compare Expectations with Execution</a:t>
            </a:r>
          </a:p>
          <a:p>
            <a:pPr marL="0" marR="0">
              <a:lnSpc>
                <a:spcPct val="100000"/>
              </a:lnSpc>
              <a:spcBef>
                <a:spcPts val="2400"/>
              </a:spcBef>
              <a:buNone/>
            </a:pPr>
            <a:endParaRPr lang="en-IN" sz="1800" b="1" kern="0"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10.1 Aggregate totals at village, taluk and district scale:</a:t>
            </a:r>
          </a:p>
          <a:p>
            <a:pPr marL="0" marR="0">
              <a:lnSpc>
                <a:spcPct val="100000"/>
              </a:lnSpc>
              <a:spcBef>
                <a:spcPts val="1000"/>
              </a:spcBef>
              <a:buNone/>
            </a:pP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a:spcAft>
                <a:spcPts val="500"/>
              </a:spcAft>
            </a:pPr>
            <a:r>
              <a:rPr lang="en-IN" dirty="0">
                <a:latin typeface="Times New Roman" panose="02020603050405020304" pitchFamily="18" charset="0"/>
                <a:cs typeface="Times New Roman" panose="02020603050405020304" pitchFamily="18" charset="0"/>
              </a:rPr>
              <a:t>For this comparison, let us assume that each household receives an electricity bill of ₹950. This is only an example used to check the program's performance.</a:t>
            </a:r>
            <a:endParaRPr lang="en-IN" sz="11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0AAD840-38ED-ACC1-999F-6184974D63E6}"/>
              </a:ext>
            </a:extLst>
          </p:cNvPr>
          <p:cNvGraphicFramePr>
            <a:graphicFrameLocks noGrp="1"/>
          </p:cNvGraphicFramePr>
          <p:nvPr>
            <p:extLst>
              <p:ext uri="{D42A27DB-BD31-4B8C-83A1-F6EECF244321}">
                <p14:modId xmlns:p14="http://schemas.microsoft.com/office/powerpoint/2010/main" val="705535989"/>
              </p:ext>
            </p:extLst>
          </p:nvPr>
        </p:nvGraphicFramePr>
        <p:xfrm>
          <a:off x="428625" y="3622413"/>
          <a:ext cx="5915025" cy="1219200"/>
        </p:xfrm>
        <a:graphic>
          <a:graphicData uri="http://schemas.openxmlformats.org/drawingml/2006/table">
            <a:tbl>
              <a:tblPr>
                <a:tableStyleId>{5940675A-B579-460E-94D1-54222C63F5DA}</a:tableStyleId>
              </a:tblPr>
              <a:tblGrid>
                <a:gridCol w="1971675">
                  <a:extLst>
                    <a:ext uri="{9D8B030D-6E8A-4147-A177-3AD203B41FA5}">
                      <a16:colId xmlns:a16="http://schemas.microsoft.com/office/drawing/2014/main" val="827317519"/>
                    </a:ext>
                  </a:extLst>
                </a:gridCol>
                <a:gridCol w="1971675">
                  <a:extLst>
                    <a:ext uri="{9D8B030D-6E8A-4147-A177-3AD203B41FA5}">
                      <a16:colId xmlns:a16="http://schemas.microsoft.com/office/drawing/2014/main" val="2756342032"/>
                    </a:ext>
                  </a:extLst>
                </a:gridCol>
                <a:gridCol w="1971675">
                  <a:extLst>
                    <a:ext uri="{9D8B030D-6E8A-4147-A177-3AD203B41FA5}">
                      <a16:colId xmlns:a16="http://schemas.microsoft.com/office/drawing/2014/main" val="2170024556"/>
                    </a:ext>
                  </a:extLst>
                </a:gridCol>
              </a:tblGrid>
              <a:tr h="0">
                <a:tc>
                  <a:txBody>
                    <a:bodyPr/>
                    <a:lstStyle/>
                    <a:p>
                      <a:pPr>
                        <a:buNone/>
                      </a:pPr>
                      <a:r>
                        <a:rPr lang="en-IN" sz="1400"/>
                        <a:t>Scale</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Number of bills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Total in paise</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41853130"/>
                  </a:ext>
                </a:extLst>
              </a:tr>
              <a:tr h="0">
                <a:tc>
                  <a:txBody>
                    <a:bodyPr/>
                    <a:lstStyle/>
                    <a:p>
                      <a:pPr>
                        <a:buNone/>
                      </a:pPr>
                      <a:r>
                        <a:rPr lang="en-IN" sz="1400"/>
                        <a:t>Village</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4,000</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380,000,000</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7329418"/>
                  </a:ext>
                </a:extLst>
              </a:tr>
              <a:tr h="0">
                <a:tc>
                  <a:txBody>
                    <a:bodyPr/>
                    <a:lstStyle/>
                    <a:p>
                      <a:pPr>
                        <a:buNone/>
                      </a:pPr>
                      <a:r>
                        <a:rPr lang="en-IN" sz="1400"/>
                        <a:t>Taluk</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60,000</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5,700,000,000</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17484866"/>
                  </a:ext>
                </a:extLst>
              </a:tr>
              <a:tr h="0">
                <a:tc>
                  <a:txBody>
                    <a:bodyPr/>
                    <a:lstStyle/>
                    <a:p>
                      <a:pPr>
                        <a:buNone/>
                      </a:pPr>
                      <a:r>
                        <a:rPr lang="en-IN" sz="1400"/>
                        <a:t>District</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800,000</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76,000,000,000</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90054776"/>
                  </a:ext>
                </a:extLst>
              </a:tr>
            </a:tbl>
          </a:graphicData>
        </a:graphic>
      </p:graphicFrame>
      <p:sp>
        <p:nvSpPr>
          <p:cNvPr id="9" name="TextBox 8">
            <a:extLst>
              <a:ext uri="{FF2B5EF4-FFF2-40B4-BE49-F238E27FC236}">
                <a16:creationId xmlns:a16="http://schemas.microsoft.com/office/drawing/2014/main" id="{B233470B-62F3-50B2-4BFB-43DF9A70110B}"/>
              </a:ext>
            </a:extLst>
          </p:cNvPr>
          <p:cNvSpPr txBox="1"/>
          <p:nvPr/>
        </p:nvSpPr>
        <p:spPr>
          <a:xfrm>
            <a:off x="442910" y="5219089"/>
            <a:ext cx="5943600" cy="2308324"/>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A normal 32-bit signed int cannot store the taluk and district totals in paise because the values are too large. A 64-bit long </a:t>
            </a:r>
            <a:r>
              <a:rPr lang="en-IN" dirty="0" err="1">
                <a:latin typeface="Times New Roman" panose="02020603050405020304" pitchFamily="18" charset="0"/>
                <a:cs typeface="Times New Roman" panose="02020603050405020304" pitchFamily="18" charset="0"/>
              </a:rPr>
              <a:t>long</a:t>
            </a:r>
            <a:r>
              <a:rPr lang="en-IN" dirty="0">
                <a:latin typeface="Times New Roman" panose="02020603050405020304" pitchFamily="18" charset="0"/>
                <a:cs typeface="Times New Roman" panose="02020603050405020304" pitchFamily="18" charset="0"/>
              </a:rPr>
              <a:t> can store these totals safely. A float becomes less accurate as the total increases, while a double provides better precision but cannot represent every decimal value exactly.</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Before submitting, run the program on your computer and record the actual results.</a:t>
            </a:r>
          </a:p>
        </p:txBody>
      </p:sp>
    </p:spTree>
    <p:extLst>
      <p:ext uri="{BB962C8B-B14F-4D97-AF65-F5344CB8AC3E}">
        <p14:creationId xmlns:p14="http://schemas.microsoft.com/office/powerpoint/2010/main" val="10747212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A34C4-D80A-AC15-6E25-6B4729A46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629AD-DAC4-C398-F068-D86E7171F77B}"/>
              </a:ext>
            </a:extLst>
          </p:cNvPr>
          <p:cNvSpPr>
            <a:spLocks noGrp="1"/>
          </p:cNvSpPr>
          <p:nvPr>
            <p:ph type="ctrTitle"/>
          </p:nvPr>
        </p:nvSpPr>
        <p:spPr>
          <a:xfrm>
            <a:off x="557212" y="1621191"/>
            <a:ext cx="5829300" cy="3448756"/>
          </a:xfrm>
        </p:spPr>
        <p:txBody>
          <a:bodyPr/>
          <a:lstStyle/>
          <a:p>
            <a:endParaRPr lang="en-IN" dirty="0"/>
          </a:p>
        </p:txBody>
      </p:sp>
      <p:sp>
        <p:nvSpPr>
          <p:cNvPr id="3" name="Subtitle 2">
            <a:extLst>
              <a:ext uri="{FF2B5EF4-FFF2-40B4-BE49-F238E27FC236}">
                <a16:creationId xmlns:a16="http://schemas.microsoft.com/office/drawing/2014/main" id="{BFB867B3-2578-4B65-292E-A5BF388ECD65}"/>
              </a:ext>
            </a:extLst>
          </p:cNvPr>
          <p:cNvSpPr>
            <a:spLocks noGrp="1"/>
          </p:cNvSpPr>
          <p:nvPr>
            <p:ph type="subTitle" idx="1"/>
          </p:nvPr>
        </p:nvSpPr>
        <p:spPr>
          <a:xfrm>
            <a:off x="900112" y="5202944"/>
            <a:ext cx="5143500" cy="2391656"/>
          </a:xfrm>
        </p:spPr>
        <p:txBody>
          <a:bodyPr/>
          <a:lstStyle/>
          <a:p>
            <a:endParaRPr lang="en-IN"/>
          </a:p>
        </p:txBody>
      </p:sp>
      <p:sp>
        <p:nvSpPr>
          <p:cNvPr id="6" name="Rectangle 5">
            <a:extLst>
              <a:ext uri="{FF2B5EF4-FFF2-40B4-BE49-F238E27FC236}">
                <a16:creationId xmlns:a16="http://schemas.microsoft.com/office/drawing/2014/main" id="{9F908162-0CB7-9E4B-2148-58A94167170B}"/>
              </a:ext>
            </a:extLst>
          </p:cNvPr>
          <p:cNvSpPr/>
          <p:nvPr/>
        </p:nvSpPr>
        <p:spPr>
          <a:xfrm>
            <a:off x="214312"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5A273F1E-B12A-1F0C-2E86-A88FFE0BA986}"/>
              </a:ext>
            </a:extLst>
          </p:cNvPr>
          <p:cNvGraphicFramePr>
            <a:graphicFrameLocks noGrp="1"/>
          </p:cNvGraphicFramePr>
          <p:nvPr>
            <p:extLst>
              <p:ext uri="{D42A27DB-BD31-4B8C-83A1-F6EECF244321}">
                <p14:modId xmlns:p14="http://schemas.microsoft.com/office/powerpoint/2010/main" val="108086430"/>
              </p:ext>
            </p:extLst>
          </p:nvPr>
        </p:nvGraphicFramePr>
        <p:xfrm>
          <a:off x="714374" y="880507"/>
          <a:ext cx="5514976" cy="3147536"/>
        </p:xfrm>
        <a:graphic>
          <a:graphicData uri="http://schemas.openxmlformats.org/drawingml/2006/table">
            <a:tbl>
              <a:tblPr>
                <a:tableStyleId>{5940675A-B579-460E-94D1-54222C63F5DA}</a:tableStyleId>
              </a:tblPr>
              <a:tblGrid>
                <a:gridCol w="2843214">
                  <a:extLst>
                    <a:ext uri="{9D8B030D-6E8A-4147-A177-3AD203B41FA5}">
                      <a16:colId xmlns:a16="http://schemas.microsoft.com/office/drawing/2014/main" val="2528809412"/>
                    </a:ext>
                  </a:extLst>
                </a:gridCol>
                <a:gridCol w="2671762">
                  <a:extLst>
                    <a:ext uri="{9D8B030D-6E8A-4147-A177-3AD203B41FA5}">
                      <a16:colId xmlns:a16="http://schemas.microsoft.com/office/drawing/2014/main" val="1503351790"/>
                    </a:ext>
                  </a:extLst>
                </a:gridCol>
              </a:tblGrid>
              <a:tr h="449648">
                <a:tc>
                  <a:txBody>
                    <a:bodyPr/>
                    <a:lstStyle/>
                    <a:p>
                      <a:pPr>
                        <a:buNone/>
                      </a:pPr>
                      <a:r>
                        <a:rPr lang="en-IN" sz="1400"/>
                        <a:t>Measurement</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Actual result</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39751323"/>
                  </a:ext>
                </a:extLst>
              </a:tr>
              <a:tr h="449648">
                <a:tc>
                  <a:txBody>
                    <a:bodyPr/>
                    <a:lstStyle/>
                    <a:p>
                      <a:pPr>
                        <a:buNone/>
                      </a:pPr>
                      <a:r>
                        <a:rPr lang="en-IN" sz="1400"/>
                        <a:t>Compiler and version</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__________</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3019075"/>
                  </a:ext>
                </a:extLst>
              </a:tr>
              <a:tr h="449648">
                <a:tc>
                  <a:txBody>
                    <a:bodyPr/>
                    <a:lstStyle/>
                    <a:p>
                      <a:pPr>
                        <a:buNone/>
                      </a:pPr>
                      <a:r>
                        <a:rPr lang="en-IN" sz="1400" dirty="0" err="1"/>
                        <a:t>sizeof</a:t>
                      </a:r>
                      <a:r>
                        <a:rPr lang="en-IN" sz="1400" dirty="0"/>
                        <a:t>(int), INT_MAX</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__________</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14989012"/>
                  </a:ext>
                </a:extLst>
              </a:tr>
              <a:tr h="449648">
                <a:tc>
                  <a:txBody>
                    <a:bodyPr/>
                    <a:lstStyle/>
                    <a:p>
                      <a:pPr>
                        <a:buNone/>
                      </a:pPr>
                      <a:r>
                        <a:rPr lang="en-IN" sz="1400"/>
                        <a:t>sizeof(long), LONG_MAX</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__________</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887732"/>
                  </a:ext>
                </a:extLst>
              </a:tr>
              <a:tr h="449648">
                <a:tc>
                  <a:txBody>
                    <a:bodyPr/>
                    <a:lstStyle/>
                    <a:p>
                      <a:pPr>
                        <a:buNone/>
                      </a:pPr>
                      <a:r>
                        <a:rPr lang="en-IN" sz="1400"/>
                        <a:t>sizeof(long long), LLONG_MAX</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__________</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23287937"/>
                  </a:ext>
                </a:extLst>
              </a:tr>
              <a:tr h="449648">
                <a:tc>
                  <a:txBody>
                    <a:bodyPr/>
                    <a:lstStyle/>
                    <a:p>
                      <a:pPr>
                        <a:buNone/>
                      </a:pPr>
                      <a:r>
                        <a:rPr lang="en-IN" sz="1400"/>
                        <a:t>sizeof(float), FLT_DIG</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__________</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52501195"/>
                  </a:ext>
                </a:extLst>
              </a:tr>
              <a:tr h="449648">
                <a:tc>
                  <a:txBody>
                    <a:bodyPr/>
                    <a:lstStyle/>
                    <a:p>
                      <a:pPr>
                        <a:buNone/>
                      </a:pPr>
                      <a:r>
                        <a:rPr lang="en-IN" sz="1400"/>
                        <a:t>sizeof(double), DBL_DIG</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__________</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52649824"/>
                  </a:ext>
                </a:extLst>
              </a:tr>
            </a:tbl>
          </a:graphicData>
        </a:graphic>
      </p:graphicFrame>
    </p:spTree>
    <p:extLst>
      <p:ext uri="{BB962C8B-B14F-4D97-AF65-F5344CB8AC3E}">
        <p14:creationId xmlns:p14="http://schemas.microsoft.com/office/powerpoint/2010/main" val="1576406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8C874-BB03-8BEA-A263-ED77D795A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1AB309-6E60-9414-5669-353F4BA81A24}"/>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567F5A77-7256-441E-72A3-B2BEF19ABBB9}"/>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DB63A29D-9080-DE0F-266E-428967C80956}"/>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405E36C9-AB85-0D9F-5E3C-37A8A47D9707}"/>
              </a:ext>
            </a:extLst>
          </p:cNvPr>
          <p:cNvSpPr txBox="1"/>
          <p:nvPr/>
        </p:nvSpPr>
        <p:spPr>
          <a:xfrm>
            <a:off x="514350" y="774104"/>
            <a:ext cx="5686425" cy="646330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TASK 11 – Recommend and Defend the Final Design:</a:t>
            </a:r>
          </a:p>
          <a:p>
            <a:pPr>
              <a:buNone/>
            </a:pPr>
            <a:endParaRPr lang="en-IN" b="1"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For this billing program, I recommend using unsigned short for the 16-bit meter reading, unsigned int for units consumed, and long </a:t>
            </a:r>
            <a:r>
              <a:rPr lang="en-IN" dirty="0" err="1">
                <a:latin typeface="Times New Roman" panose="02020603050405020304" pitchFamily="18" charset="0"/>
                <a:cs typeface="Times New Roman" panose="02020603050405020304" pitchFamily="18" charset="0"/>
              </a:rPr>
              <a:t>long</a:t>
            </a:r>
            <a:r>
              <a:rPr lang="en-IN" dirty="0">
                <a:latin typeface="Times New Roman" panose="02020603050405020304" pitchFamily="18" charset="0"/>
                <a:cs typeface="Times New Roman" panose="02020603050405020304" pitchFamily="18" charset="0"/>
              </a:rPr>
              <a:t> for bill amounts and the total collection. These data types are suitable for the meter readings and large bill totals in this assignment.</a:t>
            </a:r>
          </a:p>
          <a:p>
            <a:pPr>
              <a:buNone/>
            </a:pPr>
            <a:r>
              <a:rPr lang="en-IN" dirty="0">
                <a:latin typeface="Times New Roman" panose="02020603050405020304" pitchFamily="18" charset="0"/>
                <a:cs typeface="Times New Roman" panose="02020603050405020304" pitchFamily="18" charset="0"/>
              </a:rPr>
              <a:t>The tariff values should be defined in one place so that any changes can be made easily. Separate functions should be used for calculating consumption and bills, and all user inputs should be validated to prevent incorrect results.</a:t>
            </a:r>
          </a:p>
          <a:p>
            <a:pPr>
              <a:buNone/>
            </a:pPr>
            <a:r>
              <a:rPr lang="en-IN" dirty="0">
                <a:latin typeface="Times New Roman" panose="02020603050405020304" pitchFamily="18" charset="0"/>
                <a:cs typeface="Times New Roman" panose="02020603050405020304" pitchFamily="18" charset="0"/>
              </a:rPr>
              <a:t>Storing money as integer paise avoids decimal rounding errors. A 64-bit long </a:t>
            </a:r>
            <a:r>
              <a:rPr lang="en-IN" dirty="0" err="1">
                <a:latin typeface="Times New Roman" panose="02020603050405020304" pitchFamily="18" charset="0"/>
                <a:cs typeface="Times New Roman" panose="02020603050405020304" pitchFamily="18" charset="0"/>
              </a:rPr>
              <a:t>long</a:t>
            </a:r>
            <a:r>
              <a:rPr lang="en-IN" dirty="0">
                <a:latin typeface="Times New Roman" panose="02020603050405020304" pitchFamily="18" charset="0"/>
                <a:cs typeface="Times New Roman" panose="02020603050405020304" pitchFamily="18" charset="0"/>
              </a:rPr>
              <a:t> can store the example district total of 76,000,000,000 paise.</a:t>
            </a:r>
          </a:p>
          <a:p>
            <a:pPr>
              <a:buNone/>
            </a:pPr>
            <a:r>
              <a:rPr lang="en-IN" dirty="0">
                <a:latin typeface="Times New Roman" panose="02020603050405020304" pitchFamily="18" charset="0"/>
                <a:cs typeface="Times New Roman" panose="02020603050405020304" pitchFamily="18" charset="0"/>
              </a:rPr>
              <a:t>The main limitation is that the basic design assumes at most one meter rollover between readings and fixed tariff rates. Additional rules, such as taxes or discounts, would require further changes.</a:t>
            </a:r>
          </a:p>
          <a:p>
            <a:pPr>
              <a:buNone/>
            </a:pPr>
            <a:r>
              <a:rPr lang="en-IN" dirty="0">
                <a:latin typeface="Times New Roman" panose="02020603050405020304" pitchFamily="18" charset="0"/>
                <a:cs typeface="Times New Roman" panose="02020603050405020304" pitchFamily="18" charset="0"/>
              </a:rPr>
              <a:t>If tariff values are stored in a configuration file, the program can read them when it starts. Reading t tariff values takes O(t) time and O(t) space. This allows tariff changes without recompiling the program, but the file must be checked for invalid values.</a:t>
            </a:r>
          </a:p>
        </p:txBody>
      </p:sp>
    </p:spTree>
    <p:extLst>
      <p:ext uri="{BB962C8B-B14F-4D97-AF65-F5344CB8AC3E}">
        <p14:creationId xmlns:p14="http://schemas.microsoft.com/office/powerpoint/2010/main" val="2676224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0469-F767-5024-F3A3-8B8AFD67C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E212B-A298-A3F1-E6B2-F1CBBFC0C90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03CE4075-C736-6B62-5FF1-D5D02EA5292A}"/>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B1CF74E0-28F9-F3B9-741B-7E723F96FEA2}"/>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C4928C22-3B1E-7237-6BE1-5A163F7642E6}"/>
              </a:ext>
            </a:extLst>
          </p:cNvPr>
          <p:cNvSpPr txBox="1"/>
          <p:nvPr/>
        </p:nvSpPr>
        <p:spPr>
          <a:xfrm>
            <a:off x="514349" y="484970"/>
            <a:ext cx="5929313" cy="3693319"/>
          </a:xfrm>
          <a:prstGeom prst="rect">
            <a:avLst/>
          </a:prstGeom>
          <a:noFill/>
        </p:spPr>
        <p:txBody>
          <a:bodyPr wrap="square">
            <a:spAutoFit/>
          </a:bodyPr>
          <a:lstStyle/>
          <a:p>
            <a:pPr>
              <a:buNone/>
            </a:pPr>
            <a:endParaRPr lang="en-IN" sz="1800" dirty="0">
              <a:latin typeface="Times New Roman" panose="02020603050405020304" pitchFamily="18" charset="0"/>
              <a:cs typeface="Times New Roman" panose="02020603050405020304" pitchFamily="18" charset="0"/>
            </a:endParaRPr>
          </a:p>
          <a:p>
            <a:pPr>
              <a:buNone/>
            </a:pPr>
            <a:r>
              <a:rPr lang="en-IN" sz="1800" b="1" dirty="0">
                <a:latin typeface="Times New Roman" panose="02020603050405020304" pitchFamily="18" charset="0"/>
                <a:cs typeface="Times New Roman" panose="02020603050405020304" pitchFamily="18" charset="0"/>
              </a:rPr>
              <a:t>TASK 12 – Day-4 Smart-Meter Design Challenge</a:t>
            </a:r>
          </a:p>
          <a:p>
            <a:pPr>
              <a:buNone/>
            </a:pPr>
            <a:r>
              <a:rPr lang="en-IN" sz="1800" b="1" dirty="0">
                <a:latin typeface="Times New Roman" panose="02020603050405020304" pitchFamily="18" charset="0"/>
                <a:cs typeface="Times New Roman" panose="02020603050405020304" pitchFamily="18" charset="0"/>
              </a:rPr>
              <a:t>A. Impact Analysis</a:t>
            </a:r>
          </a:p>
          <a:p>
            <a:pPr>
              <a:buNone/>
            </a:pPr>
            <a:r>
              <a:rPr lang="en-IN" sz="1800" dirty="0">
                <a:latin typeface="Times New Roman" panose="02020603050405020304" pitchFamily="18" charset="0"/>
                <a:cs typeface="Times New Roman" panose="02020603050405020304" pitchFamily="18" charset="0"/>
              </a:rPr>
              <a:t>In the updated system, smart meters send readings in watt-hours every 15 minutes. Electricity used between 6 PM and 10 PM costs 20% more than electricity used during other hours. The tariff rates must also be changeable without recompiling the program.</a:t>
            </a:r>
          </a:p>
          <a:p>
            <a:pPr>
              <a:buNone/>
            </a:pPr>
            <a:endParaRPr lang="en-IN" dirty="0">
              <a:latin typeface="Times New Roman" panose="02020603050405020304" pitchFamily="18" charset="0"/>
              <a:cs typeface="Times New Roman" panose="02020603050405020304" pitchFamily="18" charset="0"/>
            </a:endParaRPr>
          </a:p>
          <a:p>
            <a:r>
              <a:rPr lang="en-IN" dirty="0"/>
              <a:t>Each house produces:</a:t>
            </a:r>
          </a:p>
          <a:p>
            <a:endParaRPr lang="en-IN" dirty="0"/>
          </a:p>
          <a:p>
            <a:r>
              <a:rPr lang="en-IN" dirty="0"/>
              <a:t>35,040 readings per year.</a:t>
            </a:r>
          </a:p>
          <a:p>
            <a:pPr>
              <a:buNone/>
            </a:pPr>
            <a:endParaRPr lang="en-IN" sz="1800" dirty="0">
              <a:latin typeface="Times New Roman" panose="02020603050405020304" pitchFamily="18" charset="0"/>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5E703EC8-7A49-0177-9368-262668D1C95E}"/>
              </a:ext>
            </a:extLst>
          </p:cNvPr>
          <p:cNvGraphicFramePr>
            <a:graphicFrameLocks noGrp="1"/>
          </p:cNvGraphicFramePr>
          <p:nvPr>
            <p:extLst>
              <p:ext uri="{D42A27DB-BD31-4B8C-83A1-F6EECF244321}">
                <p14:modId xmlns:p14="http://schemas.microsoft.com/office/powerpoint/2010/main" val="845190011"/>
              </p:ext>
            </p:extLst>
          </p:nvPr>
        </p:nvGraphicFramePr>
        <p:xfrm>
          <a:off x="471488" y="4275316"/>
          <a:ext cx="5915024" cy="1219200"/>
        </p:xfrm>
        <a:graphic>
          <a:graphicData uri="http://schemas.openxmlformats.org/drawingml/2006/table">
            <a:tbl>
              <a:tblPr>
                <a:tableStyleId>{5940675A-B579-460E-94D1-54222C63F5DA}</a:tableStyleId>
              </a:tblPr>
              <a:tblGrid>
                <a:gridCol w="2957512">
                  <a:extLst>
                    <a:ext uri="{9D8B030D-6E8A-4147-A177-3AD203B41FA5}">
                      <a16:colId xmlns:a16="http://schemas.microsoft.com/office/drawing/2014/main" val="2188056748"/>
                    </a:ext>
                  </a:extLst>
                </a:gridCol>
                <a:gridCol w="2957512">
                  <a:extLst>
                    <a:ext uri="{9D8B030D-6E8A-4147-A177-3AD203B41FA5}">
                      <a16:colId xmlns:a16="http://schemas.microsoft.com/office/drawing/2014/main" val="1393635381"/>
                    </a:ext>
                  </a:extLst>
                </a:gridCol>
              </a:tblGrid>
              <a:tr h="297180">
                <a:tc>
                  <a:txBody>
                    <a:bodyPr/>
                    <a:lstStyle/>
                    <a:p>
                      <a:pPr>
                        <a:buNone/>
                      </a:pPr>
                      <a:r>
                        <a:rPr lang="en-IN" sz="1400"/>
                        <a:t>Scale</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Annual readings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63026326"/>
                  </a:ext>
                </a:extLst>
              </a:tr>
              <a:tr h="297180">
                <a:tc>
                  <a:txBody>
                    <a:bodyPr/>
                    <a:lstStyle/>
                    <a:p>
                      <a:pPr>
                        <a:buNone/>
                      </a:pPr>
                      <a:r>
                        <a:rPr lang="en-IN" sz="1400"/>
                        <a:t>4,000 houses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140,160,000</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90235907"/>
                  </a:ext>
                </a:extLst>
              </a:tr>
              <a:tr h="297180">
                <a:tc>
                  <a:txBody>
                    <a:bodyPr/>
                    <a:lstStyle/>
                    <a:p>
                      <a:pPr>
                        <a:buNone/>
                      </a:pPr>
                      <a:r>
                        <a:rPr lang="en-IN" sz="1400"/>
                        <a:t>60,000 houses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2,102,400,000</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76131503"/>
                  </a:ext>
                </a:extLst>
              </a:tr>
              <a:tr h="297180">
                <a:tc>
                  <a:txBody>
                    <a:bodyPr/>
                    <a:lstStyle/>
                    <a:p>
                      <a:pPr>
                        <a:buNone/>
                      </a:pPr>
                      <a:r>
                        <a:rPr lang="en-IN" sz="1400"/>
                        <a:t>800,000 houses</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28,032,000,000</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2232046"/>
                  </a:ext>
                </a:extLst>
              </a:tr>
            </a:tbl>
          </a:graphicData>
        </a:graphic>
      </p:graphicFrame>
      <p:sp>
        <p:nvSpPr>
          <p:cNvPr id="16" name="TextBox 15">
            <a:extLst>
              <a:ext uri="{FF2B5EF4-FFF2-40B4-BE49-F238E27FC236}">
                <a16:creationId xmlns:a16="http://schemas.microsoft.com/office/drawing/2014/main" id="{DF7A87E4-934D-2E37-6D34-8919F0F9B631}"/>
              </a:ext>
            </a:extLst>
          </p:cNvPr>
          <p:cNvSpPr txBox="1"/>
          <p:nvPr/>
        </p:nvSpPr>
        <p:spPr>
          <a:xfrm>
            <a:off x="514349" y="5886029"/>
            <a:ext cx="6043614" cy="1477328"/>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A 32-bit signed int is not large enough to store the district's annual reading count. Therefore, a 64-bit counter and wider energy totals should be used.</a:t>
            </a:r>
          </a:p>
          <a:p>
            <a:pPr>
              <a:buNone/>
            </a:pPr>
            <a:r>
              <a:rPr lang="en-IN" dirty="0">
                <a:latin typeface="Times New Roman" panose="02020603050405020304" pitchFamily="18" charset="0"/>
                <a:cs typeface="Times New Roman" panose="02020603050405020304" pitchFamily="18" charset="0"/>
              </a:rPr>
              <a:t>Hard-coded tariff macros are no longer suitable because the rates must be changed while keeping the same executable.</a:t>
            </a:r>
          </a:p>
        </p:txBody>
      </p:sp>
    </p:spTree>
    <p:extLst>
      <p:ext uri="{BB962C8B-B14F-4D97-AF65-F5344CB8AC3E}">
        <p14:creationId xmlns:p14="http://schemas.microsoft.com/office/powerpoint/2010/main" val="1992989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DDA4-A919-261E-46B9-F10C5BECA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25767-5E34-0207-1BD8-BD62A3D85BB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BB43658F-66C6-5C0A-D896-BA3E412AC726}"/>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EBAD548D-4240-ABD9-0BD5-B67CF45B08E9}"/>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BF7F7EDB-6674-1565-A123-DC0A8EA66F0A}"/>
              </a:ext>
            </a:extLst>
          </p:cNvPr>
          <p:cNvSpPr txBox="1"/>
          <p:nvPr/>
        </p:nvSpPr>
        <p:spPr>
          <a:xfrm>
            <a:off x="514350" y="833139"/>
            <a:ext cx="5486400" cy="535531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B. Evaluation of the Original Design:</a:t>
            </a:r>
          </a:p>
          <a:p>
            <a:pPr>
              <a:buNone/>
            </a:pPr>
            <a:endParaRPr lang="en-IN" b="1"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 original design uses integer paise to avoid rounding errors, which is still a good choice. However, 16-bit meter readings are not suitable for storing large cumulative energy totals.</a:t>
            </a:r>
          </a:p>
          <a:p>
            <a:pPr>
              <a:buNone/>
            </a:pPr>
            <a:r>
              <a:rPr lang="en-IN" dirty="0">
                <a:latin typeface="Times New Roman" panose="02020603050405020304" pitchFamily="18" charset="0"/>
                <a:cs typeface="Times New Roman" panose="02020603050405020304" pitchFamily="18" charset="0"/>
              </a:rPr>
              <a:t>The original design also uses fixed tariff values. These need to be replaced with values read from a configuration file so that tariff changes can be made without recompiling the program.</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C. Revised Design:</a:t>
            </a:r>
          </a:p>
          <a:p>
            <a:pPr>
              <a:buNone/>
            </a:pPr>
            <a:endParaRPr lang="en-IN" b="1"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 revised program can read the base tariff in paise per kWh from a configuration file. It then applies a multiplier of 120 during peak hours and 100 during other hours.</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C program:</a:t>
            </a:r>
          </a:p>
          <a:p>
            <a:pPr>
              <a:buNone/>
            </a:pP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5A5B426-C4CF-5A3D-88A8-3CDCEFF36FA7}"/>
              </a:ext>
            </a:extLst>
          </p:cNvPr>
          <p:cNvSpPr txBox="1"/>
          <p:nvPr/>
        </p:nvSpPr>
        <p:spPr>
          <a:xfrm>
            <a:off x="514350" y="6188451"/>
            <a:ext cx="6515100" cy="2862322"/>
          </a:xfrm>
          <a:prstGeom prst="rect">
            <a:avLst/>
          </a:prstGeom>
          <a:noFill/>
        </p:spPr>
        <p:txBody>
          <a:bodyPr wrap="square">
            <a:spAutoFit/>
          </a:bodyPr>
          <a:lstStyle/>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#include &lt;</a:t>
            </a:r>
            <a:r>
              <a:rPr lang="en-IN" sz="1800" b="0" i="0" dirty="0" err="1">
                <a:solidFill>
                  <a:schemeClr val="tx1"/>
                </a:solidFill>
                <a:effectLst/>
                <a:latin typeface="Times New Roman" panose="02020603050405020304" pitchFamily="18" charset="0"/>
                <a:cs typeface="Times New Roman" panose="02020603050405020304" pitchFamily="18" charset="0"/>
              </a:rPr>
              <a:t>stdio.h</a:t>
            </a:r>
            <a:r>
              <a:rPr lang="en-IN" sz="1800" b="0" i="0" dirty="0">
                <a:solidFill>
                  <a:schemeClr val="tx1"/>
                </a:solidFill>
                <a:effectLst/>
                <a:latin typeface="Times New Roman" panose="02020603050405020304" pitchFamily="18" charset="0"/>
                <a:cs typeface="Times New Roman" panose="02020603050405020304" pitchFamily="18" charset="0"/>
              </a:rPr>
              <a:t>&gt;</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#include &lt;</a:t>
            </a:r>
            <a:r>
              <a:rPr lang="en-IN" sz="1800" b="0" i="0" dirty="0" err="1">
                <a:solidFill>
                  <a:schemeClr val="tx1"/>
                </a:solidFill>
                <a:effectLst/>
                <a:latin typeface="Times New Roman" panose="02020603050405020304" pitchFamily="18" charset="0"/>
                <a:cs typeface="Times New Roman" panose="02020603050405020304" pitchFamily="18" charset="0"/>
              </a:rPr>
              <a:t>stdint.h</a:t>
            </a:r>
            <a:r>
              <a:rPr lang="en-IN" sz="1800" b="0" i="0" dirty="0">
                <a:solidFill>
                  <a:schemeClr val="tx1"/>
                </a:solidFill>
                <a:effectLst/>
                <a:latin typeface="Times New Roman" panose="02020603050405020304" pitchFamily="18" charset="0"/>
                <a:cs typeface="Times New Roman" panose="02020603050405020304" pitchFamily="18" charset="0"/>
              </a:rPr>
              <a:t>&gt;</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int64_t </a:t>
            </a:r>
            <a:r>
              <a:rPr lang="en-IN" sz="1800" b="0" i="0" dirty="0" err="1">
                <a:solidFill>
                  <a:schemeClr val="tx1"/>
                </a:solidFill>
                <a:effectLst/>
                <a:latin typeface="Times New Roman" panose="02020603050405020304" pitchFamily="18" charset="0"/>
                <a:cs typeface="Times New Roman" panose="02020603050405020304" pitchFamily="18" charset="0"/>
              </a:rPr>
              <a:t>calculate_charge</a:t>
            </a:r>
            <a:r>
              <a:rPr lang="en-IN" sz="1800" b="0" i="0" dirty="0">
                <a:solidFill>
                  <a:schemeClr val="tx1"/>
                </a:solidFill>
                <a:effectLst/>
                <a:latin typeface="Times New Roman" panose="02020603050405020304" pitchFamily="18" charset="0"/>
                <a:cs typeface="Times New Roman" panose="02020603050405020304" pitchFamily="18" charset="0"/>
              </a:rPr>
              <a:t>(uint64_t </a:t>
            </a:r>
            <a:r>
              <a:rPr lang="en-IN" sz="1800" b="0" i="0" dirty="0" err="1">
                <a:solidFill>
                  <a:schemeClr val="tx1"/>
                </a:solidFill>
                <a:effectLst/>
                <a:latin typeface="Times New Roman" panose="02020603050405020304" pitchFamily="18" charset="0"/>
                <a:cs typeface="Times New Roman" panose="02020603050405020304" pitchFamily="18" charset="0"/>
              </a:rPr>
              <a:t>wh</a:t>
            </a:r>
            <a:r>
              <a:rPr lang="en-IN" sz="1800" b="0" i="0" dirty="0">
                <a:solidFill>
                  <a:schemeClr val="tx1"/>
                </a:solidFill>
                <a:effectLst/>
                <a:latin typeface="Times New Roman" panose="02020603050405020304" pitchFamily="18" charset="0"/>
                <a:cs typeface="Times New Roman" panose="02020603050405020304" pitchFamily="18" charset="0"/>
              </a:rPr>
              <a:t>, int peak,</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int64_t rate)</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int64_t multiplier = peak ? 120 : 100;</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return (int64_t)((</a:t>
            </a:r>
            <a:r>
              <a:rPr lang="en-IN" sz="1800" b="0" i="0" dirty="0" err="1">
                <a:solidFill>
                  <a:schemeClr val="tx1"/>
                </a:solidFill>
                <a:effectLst/>
                <a:latin typeface="Times New Roman" panose="02020603050405020304" pitchFamily="18" charset="0"/>
                <a:cs typeface="Times New Roman" panose="02020603050405020304" pitchFamily="18" charset="0"/>
              </a:rPr>
              <a:t>wh</a:t>
            </a:r>
            <a:r>
              <a:rPr lang="en-IN" sz="1800" b="0" i="0" dirty="0">
                <a:solidFill>
                  <a:schemeClr val="tx1"/>
                </a:solidFill>
                <a:effectLst/>
                <a:latin typeface="Times New Roman" panose="02020603050405020304" pitchFamily="18" charset="0"/>
                <a:cs typeface="Times New Roman" panose="02020603050405020304" pitchFamily="18" charset="0"/>
              </a:rPr>
              <a:t> * (uint64_t)rate *</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(uint64_t)multiplier + 50000ULL)</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 100000ULL);</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a:t>
            </a:r>
            <a:endParaRPr lang="en-IN" sz="11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221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2CA4-64D4-4322-BFA0-9CCFF4A2C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F6D97-D794-2CD6-AA6C-2E49B7C6AF24}"/>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BF686431-619D-1724-70C8-F7CD0B7A55F5}"/>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984FBF60-B721-C369-CB25-7650C3D4E272}"/>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B9964622-5EB2-ACDB-48A5-E90D469A083B}"/>
              </a:ext>
            </a:extLst>
          </p:cNvPr>
          <p:cNvSpPr txBox="1"/>
          <p:nvPr/>
        </p:nvSpPr>
        <p:spPr>
          <a:xfrm>
            <a:off x="514349" y="496720"/>
            <a:ext cx="5686425" cy="2031325"/>
          </a:xfrm>
          <a:prstGeom prst="rect">
            <a:avLst/>
          </a:prstGeom>
          <a:noFill/>
        </p:spPr>
        <p:txBody>
          <a:bodyPr wrap="square">
            <a:spAutoFit/>
          </a:bodyPr>
          <a:lstStyle/>
          <a:p>
            <a:pPr marL="0" marR="0" indent="0" algn="l">
              <a:buNone/>
            </a:pPr>
            <a:endParaRPr lang="en-IN" sz="1800" b="0" i="0" dirty="0">
              <a:solidFill>
                <a:schemeClr val="tx1"/>
              </a:solidFill>
              <a:effectLst/>
              <a:latin typeface="Times New Roman" panose="02020603050405020304" pitchFamily="18" charset="0"/>
              <a:cs typeface="Times New Roman" panose="02020603050405020304" pitchFamily="18" charset="0"/>
            </a:endParaRP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int main(void)</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a:t>
            </a:r>
          </a:p>
          <a:p>
            <a:pPr marL="0" marR="0" indent="0" algn="l">
              <a:buNone/>
            </a:pPr>
            <a:r>
              <a:rPr lang="en-IN" sz="1800" b="0" i="0" dirty="0" err="1">
                <a:solidFill>
                  <a:schemeClr val="tx1"/>
                </a:solidFill>
                <a:effectLst/>
                <a:latin typeface="Times New Roman" panose="02020603050405020304" pitchFamily="18" charset="0"/>
                <a:cs typeface="Times New Roman" panose="02020603050405020304" pitchFamily="18" charset="0"/>
              </a:rPr>
              <a:t>printf</a:t>
            </a:r>
            <a:r>
              <a:rPr lang="en-IN" sz="1800" b="0" i="0" dirty="0">
                <a:solidFill>
                  <a:schemeClr val="tx1"/>
                </a:solidFill>
                <a:effectLst/>
                <a:latin typeface="Times New Roman" panose="02020603050405020304" pitchFamily="18" charset="0"/>
                <a:cs typeface="Times New Roman" panose="02020603050405020304" pitchFamily="18" charset="0"/>
              </a:rPr>
              <a:t>("Charge: %</a:t>
            </a:r>
            <a:r>
              <a:rPr lang="en-IN" sz="1800" b="0" i="0" dirty="0" err="1">
                <a:solidFill>
                  <a:schemeClr val="tx1"/>
                </a:solidFill>
                <a:effectLst/>
                <a:latin typeface="Times New Roman" panose="02020603050405020304" pitchFamily="18" charset="0"/>
                <a:cs typeface="Times New Roman" panose="02020603050405020304" pitchFamily="18" charset="0"/>
              </a:rPr>
              <a:t>lld</a:t>
            </a:r>
            <a:r>
              <a:rPr lang="en-IN" sz="1800" b="0" i="0" dirty="0">
                <a:solidFill>
                  <a:schemeClr val="tx1"/>
                </a:solidFill>
                <a:effectLst/>
                <a:latin typeface="Times New Roman" panose="02020603050405020304" pitchFamily="18" charset="0"/>
                <a:cs typeface="Times New Roman" panose="02020603050405020304" pitchFamily="18" charset="0"/>
              </a:rPr>
              <a:t> paise\n",</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(long long)</a:t>
            </a:r>
            <a:r>
              <a:rPr lang="en-IN" sz="1800" b="0" i="0" dirty="0" err="1">
                <a:solidFill>
                  <a:schemeClr val="tx1"/>
                </a:solidFill>
                <a:effectLst/>
                <a:latin typeface="Times New Roman" panose="02020603050405020304" pitchFamily="18" charset="0"/>
                <a:cs typeface="Times New Roman" panose="02020603050405020304" pitchFamily="18" charset="0"/>
              </a:rPr>
              <a:t>calculate_charge</a:t>
            </a:r>
            <a:r>
              <a:rPr lang="en-IN" sz="1800" b="0" i="0" dirty="0">
                <a:solidFill>
                  <a:schemeClr val="tx1"/>
                </a:solidFill>
                <a:effectLst/>
                <a:latin typeface="Times New Roman" panose="02020603050405020304" pitchFamily="18" charset="0"/>
                <a:cs typeface="Times New Roman" panose="02020603050405020304" pitchFamily="18" charset="0"/>
              </a:rPr>
              <a:t>(1500, 1, 225));</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return 0;</a:t>
            </a:r>
          </a:p>
          <a:p>
            <a:pPr marL="0" marR="0" indent="0" algn="l">
              <a:buNone/>
            </a:pPr>
            <a:r>
              <a:rPr lang="en-IN" sz="1800" b="0" i="0" dirty="0">
                <a:solidFill>
                  <a:schemeClr val="tx1"/>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C49150E-82D9-C96E-23DC-432F4BEA34C4}"/>
              </a:ext>
            </a:extLst>
          </p:cNvPr>
          <p:cNvSpPr txBox="1"/>
          <p:nvPr/>
        </p:nvSpPr>
        <p:spPr>
          <a:xfrm>
            <a:off x="371474" y="2810453"/>
            <a:ext cx="5829299" cy="5801588"/>
          </a:xfrm>
          <a:prstGeom prst="rect">
            <a:avLst/>
          </a:prstGeom>
          <a:noFill/>
        </p:spPr>
        <p:txBody>
          <a:bodyPr wrap="square">
            <a:spAutoFit/>
          </a:bodyPr>
          <a:lstStyle/>
          <a:p>
            <a:pPr marL="0" marR="0" indent="0" algn="l">
              <a:spcAft>
                <a:spcPts val="600"/>
              </a:spcAft>
              <a:buNone/>
            </a:pPr>
            <a:r>
              <a:rPr lang="en-IN" sz="1800" b="1" i="0" dirty="0">
                <a:solidFill>
                  <a:schemeClr val="tx1"/>
                </a:solidFill>
                <a:effectLst/>
                <a:latin typeface="Times New Roman" panose="02020603050405020304" pitchFamily="18" charset="0"/>
                <a:cs typeface="Times New Roman" panose="02020603050405020304" pitchFamily="18" charset="0"/>
              </a:rPr>
              <a:t>Expected output:</a:t>
            </a:r>
          </a:p>
          <a:p>
            <a:pPr marL="0" marR="0" indent="0" algn="l">
              <a:spcAft>
                <a:spcPts val="600"/>
              </a:spcAft>
              <a:buNone/>
            </a:pPr>
            <a:endParaRPr lang="en-IN" sz="1800" b="1" i="0" dirty="0">
              <a:solidFill>
                <a:schemeClr val="tx1"/>
              </a:solidFill>
              <a:effectLst/>
              <a:latin typeface="Times New Roman" panose="02020603050405020304" pitchFamily="18" charset="0"/>
              <a:cs typeface="Times New Roman" panose="02020603050405020304" pitchFamily="18" charset="0"/>
            </a:endParaRPr>
          </a:p>
          <a:p>
            <a:pPr marL="0" marR="0" indent="0" algn="l">
              <a:spcAft>
                <a:spcPts val="600"/>
              </a:spcAft>
              <a:buNone/>
            </a:pPr>
            <a:r>
              <a:rPr lang="en-IN" sz="1800" b="0" i="0" dirty="0">
                <a:solidFill>
                  <a:schemeClr val="tx1"/>
                </a:solidFill>
                <a:effectLst/>
                <a:latin typeface="Times New Roman" panose="02020603050405020304" pitchFamily="18" charset="0"/>
                <a:cs typeface="Times New Roman" panose="02020603050405020304" pitchFamily="18" charset="0"/>
              </a:rPr>
              <a:t>Charge: 405 paise</a:t>
            </a:r>
          </a:p>
          <a:p>
            <a:pPr marL="0" marR="0" indent="0" algn="l">
              <a:spcAft>
                <a:spcPts val="600"/>
              </a:spcAft>
              <a:buNone/>
            </a:pPr>
            <a:r>
              <a:rPr lang="en-IN" sz="1800" b="0" i="0" dirty="0">
                <a:solidFill>
                  <a:schemeClr val="tx1"/>
                </a:solidFill>
                <a:effectLst/>
                <a:latin typeface="Times New Roman" panose="02020603050405020304" pitchFamily="18" charset="0"/>
                <a:cs typeface="Times New Roman" panose="02020603050405020304" pitchFamily="18" charset="0"/>
              </a:rPr>
              <a:t>The charge is ₹4.05 for 1,500 </a:t>
            </a:r>
            <a:r>
              <a:rPr lang="en-IN" sz="1800" b="0" i="0" dirty="0" err="1">
                <a:solidFill>
                  <a:schemeClr val="tx1"/>
                </a:solidFill>
                <a:effectLst/>
                <a:latin typeface="Times New Roman" panose="02020603050405020304" pitchFamily="18" charset="0"/>
                <a:cs typeface="Times New Roman" panose="02020603050405020304" pitchFamily="18" charset="0"/>
              </a:rPr>
              <a:t>Wh</a:t>
            </a:r>
            <a:r>
              <a:rPr lang="en-IN" sz="1800" b="0" i="0" dirty="0">
                <a:solidFill>
                  <a:schemeClr val="tx1"/>
                </a:solidFill>
                <a:effectLst/>
                <a:latin typeface="Times New Roman" panose="02020603050405020304" pitchFamily="18" charset="0"/>
                <a:cs typeface="Times New Roman" panose="02020603050405020304" pitchFamily="18" charset="0"/>
              </a:rPr>
              <a:t> at a rate of 225 paise per kWh during peak hours. The example rounds the charge to the nearest paisa. In a real system, the multiplication should also be checked to prevent overflow.</a:t>
            </a:r>
          </a:p>
          <a:p>
            <a:pPr marL="0" marR="0" indent="0" algn="l">
              <a:spcBef>
                <a:spcPts val="2400"/>
              </a:spcBef>
              <a:buNone/>
            </a:pPr>
            <a:r>
              <a:rPr lang="en-IN" sz="1800" b="1" i="0" dirty="0">
                <a:solidFill>
                  <a:schemeClr val="tx1"/>
                </a:solidFill>
                <a:effectLst/>
                <a:latin typeface="Times New Roman" panose="02020603050405020304" pitchFamily="18" charset="0"/>
                <a:cs typeface="Times New Roman" panose="02020603050405020304" pitchFamily="18" charset="0"/>
              </a:rPr>
              <a:t>D. Evidence-Based Defence:</a:t>
            </a:r>
          </a:p>
          <a:p>
            <a:pPr marL="0" marR="0" indent="0" algn="l">
              <a:spcBef>
                <a:spcPts val="2400"/>
              </a:spcBef>
              <a:buNone/>
            </a:pPr>
            <a:endParaRPr lang="en-IN" sz="1800" b="0" i="0" dirty="0">
              <a:solidFill>
                <a:schemeClr val="tx1"/>
              </a:solidFill>
              <a:effectLst/>
              <a:latin typeface="Times New Roman" panose="02020603050405020304" pitchFamily="18" charset="0"/>
              <a:cs typeface="Times New Roman" panose="02020603050405020304" pitchFamily="18" charset="0"/>
            </a:endParaRPr>
          </a:p>
          <a:p>
            <a:pPr marL="0" marR="0" indent="0" algn="l">
              <a:spcAft>
                <a:spcPts val="600"/>
              </a:spcAft>
              <a:buNone/>
            </a:pPr>
            <a:r>
              <a:rPr lang="en-IN" sz="1800" b="0" i="0" dirty="0">
                <a:solidFill>
                  <a:schemeClr val="tx1"/>
                </a:solidFill>
                <a:effectLst/>
                <a:latin typeface="Times New Roman" panose="02020603050405020304" pitchFamily="18" charset="0"/>
                <a:cs typeface="Times New Roman" panose="02020603050405020304" pitchFamily="18" charset="0"/>
              </a:rPr>
              <a:t>The revised design continues to store money as integer paise to keep the calculations accurate. It uses 64-bit counters to handle the large number of smart-meter readings. Tariff rates can be updated through a configuration file, and the program applies the higher rate during peak hours.</a:t>
            </a:r>
          </a:p>
          <a:p>
            <a:pPr marL="0" marR="0" indent="0" algn="l">
              <a:spcAft>
                <a:spcPts val="600"/>
              </a:spcAft>
              <a:buNone/>
            </a:pPr>
            <a:r>
              <a:rPr lang="en-IN" sz="1800" b="0" i="0" dirty="0">
                <a:solidFill>
                  <a:schemeClr val="tx1"/>
                </a:solidFill>
                <a:effectLst/>
                <a:latin typeface="Times New Roman" panose="02020603050405020304" pitchFamily="18" charset="0"/>
                <a:cs typeface="Times New Roman" panose="02020603050405020304" pitchFamily="18" charset="0"/>
              </a:rPr>
              <a:t>Processing N readings takes O(N) time. Saving readings as they arrive also avoids keeping all the readings for an entire year in memory.</a:t>
            </a:r>
            <a:endParaRPr lang="en-IN" sz="11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3886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A20E-BDD5-CEF8-7A53-AFEECD811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D5B8ED-C80B-7C54-7FE1-59CC60D9853A}"/>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A3357D4C-7A31-FD29-03E7-3A3F19420E81}"/>
              </a:ext>
            </a:extLst>
          </p:cNvPr>
          <p:cNvSpPr>
            <a:spLocks noGrp="1"/>
          </p:cNvSpPr>
          <p:nvPr>
            <p:ph type="subTitle" idx="1"/>
          </p:nvPr>
        </p:nvSpPr>
        <p:spPr/>
        <p:txBody>
          <a:bodyPr/>
          <a:lstStyle/>
          <a:p>
            <a:endParaRPr lang="en-IN"/>
          </a:p>
        </p:txBody>
      </p:sp>
      <p:sp>
        <p:nvSpPr>
          <p:cNvPr id="6" name="Rectangle 5">
            <a:extLst>
              <a:ext uri="{FF2B5EF4-FFF2-40B4-BE49-F238E27FC236}">
                <a16:creationId xmlns:a16="http://schemas.microsoft.com/office/drawing/2014/main" id="{E37599B9-4E94-2A48-7CA6-ECE344A2B850}"/>
              </a:ext>
            </a:extLst>
          </p:cNvPr>
          <p:cNvSpPr/>
          <p:nvPr/>
        </p:nvSpPr>
        <p:spPr>
          <a:xfrm>
            <a:off x="171450" y="214312"/>
            <a:ext cx="6515100" cy="9501188"/>
          </a:xfrm>
          <a:prstGeom prst="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6EC1C1B9-DF7B-E1CD-A198-F9A9FA5F264E}"/>
              </a:ext>
            </a:extLst>
          </p:cNvPr>
          <p:cNvSpPr txBox="1"/>
          <p:nvPr/>
        </p:nvSpPr>
        <p:spPr>
          <a:xfrm>
            <a:off x="514350" y="953799"/>
            <a:ext cx="5829299" cy="3247043"/>
          </a:xfrm>
          <a:prstGeom prst="rect">
            <a:avLst/>
          </a:prstGeom>
          <a:noFill/>
        </p:spPr>
        <p:txBody>
          <a:bodyPr wrap="square">
            <a:spAutoFit/>
          </a:bodyPr>
          <a:lstStyle/>
          <a:p>
            <a:pPr marL="0" marR="0" indent="0" algn="l">
              <a:spcBef>
                <a:spcPts val="2400"/>
              </a:spcBef>
              <a:buNone/>
            </a:pPr>
            <a:r>
              <a:rPr lang="en-IN" sz="1800" b="1" i="0" dirty="0">
                <a:solidFill>
                  <a:schemeClr val="tx1"/>
                </a:solidFill>
                <a:effectLst/>
                <a:latin typeface="Times New Roman" panose="02020603050405020304" pitchFamily="18" charset="0"/>
                <a:cs typeface="Times New Roman" panose="02020603050405020304" pitchFamily="18" charset="0"/>
              </a:rPr>
              <a:t>Conclusion:</a:t>
            </a:r>
          </a:p>
          <a:p>
            <a:pPr marL="0" marR="0" indent="0" algn="l">
              <a:spcBef>
                <a:spcPts val="2400"/>
              </a:spcBef>
              <a:buNone/>
            </a:pPr>
            <a:endParaRPr lang="en-IN" sz="1800" b="0" i="0" dirty="0">
              <a:solidFill>
                <a:schemeClr val="tx1"/>
              </a:solidFill>
              <a:effectLst/>
              <a:latin typeface="Times New Roman" panose="02020603050405020304" pitchFamily="18" charset="0"/>
              <a:cs typeface="Times New Roman" panose="02020603050405020304" pitchFamily="18" charset="0"/>
            </a:endParaRPr>
          </a:p>
          <a:p>
            <a:pPr marL="0" marR="0" indent="0" algn="l">
              <a:spcAft>
                <a:spcPts val="600"/>
              </a:spcAft>
              <a:buNone/>
            </a:pPr>
            <a:r>
              <a:rPr lang="en-IN" sz="1800" b="0" i="0" dirty="0">
                <a:solidFill>
                  <a:schemeClr val="tx1"/>
                </a:solidFill>
                <a:effectLst/>
                <a:latin typeface="Times New Roman" panose="02020603050405020304" pitchFamily="18" charset="0"/>
                <a:cs typeface="Times New Roman" panose="02020603050405020304" pitchFamily="18" charset="0"/>
              </a:rPr>
              <a:t>The billing program uses suitable data types, stores money in paise, keeps tariff values in one place, and checks user input. A wide integer variable helps prevent overflow when calculating the total collection.</a:t>
            </a:r>
          </a:p>
          <a:p>
            <a:pPr marL="0" marR="0" indent="0" algn="l">
              <a:spcAft>
                <a:spcPts val="600"/>
              </a:spcAft>
              <a:buNone/>
            </a:pPr>
            <a:r>
              <a:rPr lang="en-IN" sz="1800" b="0" i="0" dirty="0">
                <a:solidFill>
                  <a:schemeClr val="tx1"/>
                </a:solidFill>
                <a:effectLst/>
                <a:latin typeface="Times New Roman" panose="02020603050405020304" pitchFamily="18" charset="0"/>
                <a:cs typeface="Times New Roman" panose="02020603050405020304" pitchFamily="18" charset="0"/>
              </a:rPr>
              <a:t>For the smart-meter system, the design needs to support larger reading counts, tariff rates that can be changed without recompiling, peak-hour pricing, and clear rules for rounding and preventing overflow.</a:t>
            </a:r>
            <a:endParaRPr lang="en-IN" sz="11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34273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56</TotalTime>
  <Words>6541</Words>
  <Application>Microsoft Office PowerPoint</Application>
  <PresentationFormat>A4 Paper (210x297 mm)</PresentationFormat>
  <Paragraphs>744</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 11</dc:creator>
  <cp:lastModifiedBy>sriram 11</cp:lastModifiedBy>
  <cp:revision>1</cp:revision>
  <dcterms:created xsi:type="dcterms:W3CDTF">2026-10-25T04:05:48Z</dcterms:created>
  <dcterms:modified xsi:type="dcterms:W3CDTF">2026-10-25T05:01:50Z</dcterms:modified>
</cp:coreProperties>
</file>